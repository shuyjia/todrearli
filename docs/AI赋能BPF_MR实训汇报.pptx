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3a576b06a00479c" /><Relationship Type="http://schemas.openxmlformats.org/package/2006/relationships/metadata/core-properties" Target="/docProps/core.xml" Id="R393301c1ff584a18" /><Relationship Type="http://schemas.openxmlformats.org/officeDocument/2006/relationships/extended-properties" Target="/docProps/app.xml" Id="R4b9b91efff0a42af" /><Relationship Type="http://schemas.openxmlformats.org/officeDocument/2006/relationships/custom-properties" Target="/docProps/custom.xml" Id="Rbd9fc1e924c843e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72a470de32345f0"/>
  </p:notesMasterIdLst>
  <p:sldIdLst>
    <p:sldId id="256" r:id="R0c7c32bf286c4306"/>
    <p:sldId id="257" r:id="Redd0ce0a6fb5487d"/>
    <p:sldId id="258" r:id="Rae8a244c043b427f"/>
    <p:sldId id="259" r:id="R51aafed2a7904057"/>
    <p:sldId id="260" r:id="Re4e9401cc7754b34"/>
    <p:sldId id="261" r:id="R3efead3a510e4cd7"/>
    <p:sldId id="262" r:id="R5d9afd697ffa4ef8"/>
    <p:sldId id="263" r:id="Rf82a41788186425a"/>
    <p:sldId id="264" r:id="R345b83417cd24898"/>
    <p:sldId id="265" r:id="Rf2d8b3d6903d42cb"/>
    <p:sldId id="266" r:id="R128c4feb98cf4472"/>
    <p:sldId id="267" r:id="Re5a480452f3f4ac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c7c32bf286c4306" /><Relationship Type="http://schemas.openxmlformats.org/officeDocument/2006/relationships/slide" Target="/ppt/slides/slide2.xml" Id="Redd0ce0a6fb5487d" /><Relationship Type="http://schemas.openxmlformats.org/officeDocument/2006/relationships/slide" Target="/ppt/slides/slide3.xml" Id="Rae8a244c043b427f" /><Relationship Type="http://schemas.openxmlformats.org/officeDocument/2006/relationships/slide" Target="/ppt/slides/slide4.xml" Id="R51aafed2a7904057" /><Relationship Type="http://schemas.openxmlformats.org/officeDocument/2006/relationships/slide" Target="/ppt/slides/slide5.xml" Id="Re4e9401cc7754b34" /><Relationship Type="http://schemas.openxmlformats.org/officeDocument/2006/relationships/slide" Target="/ppt/slides/slide6.xml" Id="R3efead3a510e4cd7" /><Relationship Type="http://schemas.openxmlformats.org/officeDocument/2006/relationships/slide" Target="/ppt/slides/slide7.xml" Id="R5d9afd697ffa4ef8" /><Relationship Type="http://schemas.openxmlformats.org/officeDocument/2006/relationships/slide" Target="/ppt/slides/slide8.xml" Id="Rf82a41788186425a" /><Relationship Type="http://schemas.openxmlformats.org/officeDocument/2006/relationships/slide" Target="/ppt/slides/slide9.xml" Id="R345b83417cd24898" /><Relationship Type="http://schemas.openxmlformats.org/officeDocument/2006/relationships/slide" Target="/ppt/slides/slide10.xml" Id="Rf2d8b3d6903d42cb" /><Relationship Type="http://schemas.openxmlformats.org/officeDocument/2006/relationships/slide" Target="/ppt/slides/slide11.xml" Id="R128c4feb98cf4472" /><Relationship Type="http://schemas.openxmlformats.org/officeDocument/2006/relationships/slide" Target="/ppt/slides/slide12.xml" Id="Re5a480452f3f4acf" /><Relationship Type="http://schemas.openxmlformats.org/officeDocument/2006/relationships/notesMaster" Target="/ppt/notesMasters/notesMaster1.xml" Id="R772a470de323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d192a83d294d4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45479a031b4e6d" /><Relationship Type="http://schemas.openxmlformats.org/officeDocument/2006/relationships/slide" Target="/ppt/slides/slide1.xml" Id="Rfc49057410184e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297b18ab4784ebb" /><Relationship Type="http://schemas.openxmlformats.org/officeDocument/2006/relationships/slide" Target="/ppt/slides/slide2.xml" Id="Rdaef2d575a9546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921c0aec0f746f5" /><Relationship Type="http://schemas.openxmlformats.org/officeDocument/2006/relationships/slide" Target="/ppt/slides/slide3.xml" Id="Read47b0decbb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5569572782406a" /><Relationship Type="http://schemas.openxmlformats.org/officeDocument/2006/relationships/slide" Target="/ppt/slides/slide4.xml" Id="R711c4475f2fd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12bd338bc64b81" /><Relationship Type="http://schemas.openxmlformats.org/officeDocument/2006/relationships/slide" Target="/ppt/slides/slide5.xml" Id="Re027f99ba2564d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724324c5ee941d9" /><Relationship Type="http://schemas.openxmlformats.org/officeDocument/2006/relationships/slide" Target="/ppt/slides/slide6.xml" Id="R9be12c7d93444a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41f8d111b534d4c" /><Relationship Type="http://schemas.openxmlformats.org/officeDocument/2006/relationships/slide" Target="/ppt/slides/slide7.xml" Id="R54145a7a5e5046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0abfecb4684329" /><Relationship Type="http://schemas.openxmlformats.org/officeDocument/2006/relationships/slide" Target="/ppt/slides/slide8.xml" Id="Rcb904165a350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c588327a7641d0" /><Relationship Type="http://schemas.openxmlformats.org/officeDocument/2006/relationships/slide" Target="/ppt/slides/slide9.xml" Id="R8c471a4b12e34f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9a8e242d7f4c51" /><Relationship Type="http://schemas.openxmlformats.org/officeDocument/2006/relationships/slide" Target="/ppt/slides/slide10.xml" Id="R76e5eae6eaf043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65bd13113d43db" /><Relationship Type="http://schemas.openxmlformats.org/officeDocument/2006/relationships/slide" Target="/ppt/slides/slide11.xml" Id="Ra9836d11344d43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0990e0694d43fd" /><Relationship Type="http://schemas.openxmlformats.org/officeDocument/2006/relationships/slide" Target="/ppt/slides/slide12.xml" Id="Rbb3092d3d6d141c3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各位同事好，今天汇报的主题是“AI 赋能 BPF MR 实训”。我们不讨论用 AI 帮助开发 Unity，而是讨论学员使用产品时，AI 能怎样让训练更有效。核心结论很清楚：AI 应成为解释、提示和复盘的陪练；TexCore 继续作为步骤、积分和考核的确定性底座。接下来我会用外部案例、用户流程和一个可验证的 MVP 说明这条路线。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BPF 不是从零开始做 AI 产品。当前系统已经具备 MR 场景、PICO 交互、TexCore 三层步骤树、模块积分，以及多种题型和提示入口。真正的缺口在用户体验层：学员不会时，系统多半只能给固定提示；学员做错时，缺少针对错误原因的解释；训练结束后，教师和学员也缺少过程层面的复盘。因此，AI 的价值不是替换现有骨架，而是让它从“可完成的流程”成长为“可被理解和反复练习的能力”。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从用户角度看，AI 的入口不应该只是屏幕角落里的聊天框。学员真正需要的是一个连续训练过程：进入模块后先理解目标，操作时得到恰当提示，做错以后知道错误在哪里，完成后看到自己下一次应该怎样改进。我们把 AI 放在这段旅程中，而不是放在流程之外。这样设计也避免了无关问答，所有交互都围绕当前模块、当前 Topic 和当前 Step。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我们调研并整理了七十多个来自厂商、政府、大学和研究机构的一手案例。它们并不都属于仓储实训，但用户侧模式高度可复用。可以归为五类：第一类是 AI 虚拟教练和情景对话；第二类是视觉识别与现场作业指导；第三类是机器人和工厂数字孪生；第四类是学习过程分析与个性化推荐；第五类是医疗、消防、航空等高风险训练。BPF 不必照搬任何一个产品，而是应挑选最贴合现有模块的能力组合。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如果只选择六个最值得对标的案例，我建议看这六个。Talespin 证明角色可以承担追问和情景训练；Labster 证明 AI 可以围绕实验步骤提供解释；TeamViewer 证明现场视觉指导可以识别对象并确认作业；Augmentir 证明作业数据能变成技能缺口；Tulip 证明教师可以通过自然语言理解现场数据；Interplay 则证明职业技能训练可以根据表现推荐下一段学习。六个案例组合起来，恰好对应 BPF 从实训现场到教学管理的完整闭环。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综合案例和 BPF 现有能力，第一阶段不需要做一个万能助手，只要控制在五种能力。第一，回答当前步骤问题；第二，按学习者状态给三级提示；第三，记录耗时、重试、对象和工具选择；第四，在完成后做个人复盘；第五，根据弱项推荐补练。这五项连起来，就形成了解释、练习和复盘的闭环。它们都可以逐步接入，也都能在没有 AI 服务时退回到预置内容。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这一页把用户流程具体化。学员进入模块，按原有 TexCore 流程执行操作；当他请求提示或表达困惑时，AI 只读取当前模块、当前 Topic、当前 Step 和对应资料；任务完成后，系统把确定性的步骤结果与过程事件交给 AI 生成复盘，并推荐补练。AI 不是一个平行入口，而是嵌入在训练现场的服务层。这样用户得到帮助时不会脱离任务，教师看到的也仍然是完整、可追溯的训练过程。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技术实现的第一原则是边界清晰。TexCore 继续独立负责 stepIndex、积分、完成门禁、考核结果和场景交互；这些结果不能由大模型直接写入。AI 只消费经过授权的上下文和过程事件，再输出解释、提示、追问、复盘和推荐。这个边界一方面防止模型幻觉影响考核公平性，另一方面也保留了离线回退能力。对于视觉或语音评分，还要记录置信度，并允许教师复核自动结论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试点不建议同时覆盖所有模块。第一优先是 M02 服务器系统安装，因为它的知识上下文、步骤树和常见疑问都最清晰，最适合验证问答、提示和复盘。第二步才是 M05 划线贴码，验证二维码、位置和轨迹等视觉辅助。第三层是机器人和货架入场，验证路径效率、安全距离和场景变体。这样的顺序遵循一个原则：先证明用户愿意使用、确实学得更好，再增加视觉和高风险评价。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首个 MVP 的范围必须克制。只做四件事：当前步骤知识助手、三级提示、过程事件记录，以及训练后的三条改进建议。最重要的验收不是模型回答得多漂亮，而是它是否能准确绑定当前步骤、是否真的减少无效重试、是否让教师更快识别薄弱点。同时，MVP 必须有清晰的离线回退：服务不可用时，系统退回现有预置提示，TexCore 原有控制器和完成逻辑完全不受影响。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路线图分四步推进。阶段一，用 M02 验证陪练 MVP；阶段二，用真实训练数据验证它是否减少无效重试、降低提示依赖、改善复盘质量；阶段三，再把视觉辅助接入 M05；阶段四，才建设教师端的错误聚类和技能画像。每一阶段都以前一阶段的用户证据为前提，避免一次性做出难以验证的大平台。因此本轮最需要的决策不是选择模型，而是确认 M02 服务器系统安装作为首个 AI 试点。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最后总结一下。BPF 的优势是已经拥有确定性的 MR 实训骨架；AI 的机会是把它升级为更能解释、更能陪练、更能复盘的产品。我们已有充分的外部案例参考，也明确了技术边界和最小可验证范围。建议确认 M02 作为首个试点：先把当前步骤问答、三级提示、过程事件和训练复盘做成闭环，再用用户数据决定是否进入视觉辅助和教师端分析。详细案例和官方链接已经整理在两份调研文档中。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4c8fea5494d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bcf39c50647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209f20d9545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4ad94dfcf4f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680e2d9e7403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d60853b9c774e4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21afb71f44a1c" /><Relationship Type="http://schemas.openxmlformats.org/officeDocument/2006/relationships/notesSlide" Target="/ppt/notesSlides/notesSlide1.xml" Id="R557daab4cd9d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41b9de46a4fb2" /><Relationship Type="http://schemas.openxmlformats.org/officeDocument/2006/relationships/notesSlide" Target="/ppt/notesSlides/notesSlide2.xml" Id="R84877832276b4d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822fa6a9446d7" /><Relationship Type="http://schemas.openxmlformats.org/officeDocument/2006/relationships/notesSlide" Target="/ppt/notesSlides/notesSlide3.xml" Id="Re1e04bd609da46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27ae0cec14325" /><Relationship Type="http://schemas.openxmlformats.org/officeDocument/2006/relationships/notesSlide" Target="/ppt/notesSlides/notesSlide4.xml" Id="R3c5d1e11d6cc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55448e4044a7c" /><Relationship Type="http://schemas.openxmlformats.org/officeDocument/2006/relationships/notesSlide" Target="/ppt/notesSlides/notesSlide5.xml" Id="R000792e2458c49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362eff13c48d3" /><Relationship Type="http://schemas.openxmlformats.org/officeDocument/2006/relationships/notesSlide" Target="/ppt/notesSlides/notesSlide6.xml" Id="R213553a33798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033265f1844c5" /><Relationship Type="http://schemas.openxmlformats.org/officeDocument/2006/relationships/notesSlide" Target="/ppt/notesSlides/notesSlide7.xml" Id="R721ef697800c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0fa20c104cfe" /><Relationship Type="http://schemas.openxmlformats.org/officeDocument/2006/relationships/notesSlide" Target="/ppt/notesSlides/notesSlide8.xml" Id="Rc3e449584eb149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11d461b334014" /><Relationship Type="http://schemas.openxmlformats.org/officeDocument/2006/relationships/notesSlide" Target="/ppt/notesSlides/notesSlide9.xml" Id="R1d94e89ac3ad48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bb1d13b144190" /><Relationship Type="http://schemas.openxmlformats.org/officeDocument/2006/relationships/notesSlide" Target="/ppt/notesSlides/notesSlide10.xml" Id="R8522bae4d90140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a2548625d4325" /><Relationship Type="http://schemas.openxmlformats.org/officeDocument/2006/relationships/notesSlide" Target="/ppt/notesSlides/notesSlide11.xml" Id="R816c7f1e2aa8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2388f64c14263" /><Relationship Type="http://schemas.openxmlformats.org/officeDocument/2006/relationships/notesSlide" Target="/ppt/notesSlides/notesSlide12.xml" Id="R6f0b7f276bb0470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/>
      <p:sp>
        <p:nvSpPr>
          <p:cNvPr id="100000" name="OrbCover"/>
          <p:cNvSpPr/>
          <p:nvPr/>
        </p:nvSpPr>
        <p:spPr>
          <a:xfrm xmlns:a="http://schemas.openxmlformats.org/drawingml/2006/main">
            <a:off x="8820000" y="-1260000"/>
            <a:ext cx="4680000" cy="46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7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AccentCover"/>
          <p:cNvSpPr/>
          <p:nvPr/>
        </p:nvSpPr>
        <p:spPr>
          <a:xfrm xmlns:a="http://schemas.openxmlformats.org/drawingml/2006/main">
            <a:off x="738000" y="1170000"/>
            <a:ext cx="115200" cy="32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CoverKicker"/>
          <p:cNvSpPr txBox="1"/>
          <p:nvPr/>
        </p:nvSpPr>
        <p:spPr>
          <a:xfrm xmlns:a="http://schemas.openxmlformats.org/drawingml/2006/main">
            <a:off x="1080000" y="1080000"/>
            <a:ext cx="64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FEAFF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03" name="CoverTitle"/>
          <p:cNvSpPr txBox="1"/>
          <p:nvPr/>
        </p:nvSpPr>
        <p:spPr>
          <a:xfrm xmlns:a="http://schemas.openxmlformats.org/drawingml/2006/main">
            <a:off x="1080000" y="1800000"/>
            <a:ext cx="79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AI 赋能 BPF MR 实训</a:t>
            </a:r>
          </a:p>
        </p:txBody>
      </p:sp>
      <p:sp>
        <p:nvSpPr>
          <p:cNvPr id="100004" name="CoverSub"/>
          <p:cNvSpPr txBox="1"/>
          <p:nvPr/>
        </p:nvSpPr>
        <p:spPr>
          <a:xfrm xmlns:a="http://schemas.openxmlformats.org/drawingml/2006/main">
            <a:off x="1080000" y="2718000"/>
            <a:ext cx="7200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D3E9F8"/>
                </a:solidFill>
                <a:latin typeface="Microsoft YaHei"/>
                <a:ea typeface="Microsoft YaHei"/>
              </a:rPr>
              <a:t>从固定流程到智能陪练</a:t>
            </a:r>
          </a:p>
        </p:txBody>
      </p:sp>
      <p:sp>
        <p:nvSpPr>
          <p:cNvPr id="100005" name="CoverStrap"/>
          <p:cNvSpPr/>
          <p:nvPr/>
        </p:nvSpPr>
        <p:spPr>
          <a:xfrm xmlns:a="http://schemas.openxmlformats.org/drawingml/2006/main">
            <a:off x="1080000" y="4032000"/>
            <a:ext cx="648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B5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  <a:latin typeface="Microsoft YaHei"/>
                <a:ea typeface="Microsoft YaHei"/>
              </a:rPr>
              <a:t>核心判断：让 AI 解释、提示、复盘；让 TexCore 继续负责确定性考核。</a:t>
            </a:r>
          </a:p>
        </p:txBody>
      </p:sp>
      <p:sp>
        <p:nvSpPr>
          <p:cNvPr id="100006" name="CoverMeta"/>
          <p:cNvSpPr txBox="1"/>
          <p:nvPr/>
        </p:nvSpPr>
        <p:spPr>
          <a:xfrm xmlns:a="http://schemas.openxmlformats.org/drawingml/2006/main">
            <a:off x="1080000" y="5526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A8CCE5"/>
                </a:solidFill>
                <a:latin typeface="Microsoft YaHei"/>
                <a:ea typeface="Microsoft YaHei"/>
              </a:rPr>
              <a:t>面向技术团队 · 约 12 分钟 · 2026 年 8 月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/>
      <p:sp>
        <p:nvSpPr>
          <p:cNvPr id="100007" name="Node2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8" name="Title2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BPF 已有实训骨架，补上智能陪练</a:t>
            </a:r>
          </a:p>
        </p:txBody>
      </p:sp>
      <p:sp>
        <p:nvSpPr>
          <p:cNvPr id="100009" name="CurrentCard"/>
          <p:cNvSpPr/>
          <p:nvPr/>
        </p:nvSpPr>
        <p:spPr>
          <a:xfrm xmlns:a="http://schemas.openxmlformats.org/drawingml/2006/main">
            <a:off x="576000" y="1512000"/>
            <a:ext cx="4932000" cy="38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CurrentHeader"/>
          <p:cNvSpPr txBox="1"/>
          <p:nvPr/>
        </p:nvSpPr>
        <p:spPr>
          <a:xfrm xmlns:a="http://schemas.openxmlformats.org/drawingml/2006/main">
            <a:off x="846000" y="1800000"/>
            <a:ext cx="3600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A2540"/>
                </a:solidFill>
                <a:latin typeface="Microsoft YaHei"/>
                <a:ea typeface="Microsoft YaHei"/>
              </a:rPr>
              <a:t>已有基础</a:t>
            </a:r>
          </a:p>
        </p:txBody>
      </p:sp>
      <p:sp>
        <p:nvSpPr>
          <p:cNvPr id="100011" name="CurrentBody"/>
          <p:cNvSpPr txBox="1"/>
          <p:nvPr/>
        </p:nvSpPr>
        <p:spPr>
          <a:xfrm xmlns:a="http://schemas.openxmlformats.org/drawingml/2006/main">
            <a:off x="846000" y="2304000"/>
            <a:ext cx="4248000" cy="23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MR / PICO 操作实训场景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TexCore 三层步骤树与模块积分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知识、输入、操作、放置、视频等题型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操作提示、音频与知识入口</a:t>
            </a:r>
          </a:p>
        </p:txBody>
      </p:sp>
      <p:sp>
        <p:nvSpPr>
          <p:cNvPr id="100012" name="GapCard"/>
          <p:cNvSpPr/>
          <p:nvPr/>
        </p:nvSpPr>
        <p:spPr>
          <a:xfrm xmlns:a="http://schemas.openxmlformats.org/drawingml/2006/main">
            <a:off x="6516000" y="1512000"/>
            <a:ext cx="4932000" cy="38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5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GapHeader"/>
          <p:cNvSpPr txBox="1"/>
          <p:nvPr/>
        </p:nvSpPr>
        <p:spPr>
          <a:xfrm xmlns:a="http://schemas.openxmlformats.org/drawingml/2006/main">
            <a:off x="6786000" y="1800000"/>
            <a:ext cx="3600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A2540"/>
                </a:solidFill>
                <a:latin typeface="Microsoft YaHei"/>
                <a:ea typeface="Microsoft YaHei"/>
              </a:rPr>
              <a:t>待补齐能力</a:t>
            </a:r>
          </a:p>
        </p:txBody>
      </p:sp>
      <p:sp>
        <p:nvSpPr>
          <p:cNvPr id="100014" name="GapBody"/>
          <p:cNvSpPr txBox="1"/>
          <p:nvPr/>
        </p:nvSpPr>
        <p:spPr>
          <a:xfrm xmlns:a="http://schemas.openxmlformats.org/drawingml/2006/main">
            <a:off x="6786000" y="2304000"/>
            <a:ext cx="4248000" cy="23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解释“为什么要这样做”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根据错误和耗时调整提示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形成可比较的过程质量记录</a:t>
            </a:r>
          </a:p>
          <a:p>
            <a:r>
              <a:rPr lang="en-US" sz="2000">
                <a:solidFill>
                  <a:srgbClr val="21374D"/>
                </a:solidFill>
                <a:latin typeface="Microsoft YaHei"/>
                <a:ea typeface="Microsoft YaHei"/>
              </a:rPr>
              <a:t>• 给教师和学员生成训练复盘</a:t>
            </a:r>
          </a:p>
        </p:txBody>
      </p:sp>
      <p:sp>
        <p:nvSpPr>
          <p:cNvPr id="100015" name="Bridge"/>
          <p:cNvSpPr/>
          <p:nvPr/>
        </p:nvSpPr>
        <p:spPr>
          <a:xfrm xmlns:a="http://schemas.openxmlformats.org/drawingml/2006/main">
            <a:off x="5328000" y="2916000"/>
            <a:ext cx="828000" cy="82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</a:p>
        </p:txBody>
      </p:sp>
      <p:sp>
        <p:nvSpPr>
          <p:cNvPr id="100016" name="Footer2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17" name="Page2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8" name="Node3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19" name="Title3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AI 改善训练过程，而非增加聊天入口</a:t>
            </a:r>
          </a:p>
        </p:txBody>
      </p:sp>
      <p:sp>
        <p:nvSpPr>
          <p:cNvPr id="100020" name="Journey1"/>
          <p:cNvSpPr/>
          <p:nvPr/>
        </p:nvSpPr>
        <p:spPr>
          <a:xfrm xmlns:a="http://schemas.openxmlformats.org/drawingml/2006/main">
            <a:off x="576000" y="2538000"/>
            <a:ext cx="153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1 进入模块</a:t>
            </a:r>
          </a:p>
        </p:txBody>
      </p:sp>
      <p:sp>
        <p:nvSpPr>
          <p:cNvPr id="100021" name="Journey2"/>
          <p:cNvSpPr/>
          <p:nvPr/>
        </p:nvSpPr>
        <p:spPr>
          <a:xfrm xmlns:a="http://schemas.openxmlformats.org/drawingml/2006/main">
            <a:off x="2772000" y="2538000"/>
            <a:ext cx="153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2 识别目标</a:t>
            </a:r>
          </a:p>
        </p:txBody>
      </p:sp>
      <p:sp>
        <p:nvSpPr>
          <p:cNvPr id="100022" name="Journey3"/>
          <p:cNvSpPr/>
          <p:nvPr/>
        </p:nvSpPr>
        <p:spPr>
          <a:xfrm xmlns:a="http://schemas.openxmlformats.org/drawingml/2006/main">
            <a:off x="4968000" y="2538000"/>
            <a:ext cx="153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3 执行操作</a:t>
            </a:r>
          </a:p>
        </p:txBody>
      </p:sp>
      <p:sp>
        <p:nvSpPr>
          <p:cNvPr id="100023" name="Journey4"/>
          <p:cNvSpPr/>
          <p:nvPr/>
        </p:nvSpPr>
        <p:spPr>
          <a:xfrm xmlns:a="http://schemas.openxmlformats.org/drawingml/2006/main">
            <a:off x="7164000" y="2538000"/>
            <a:ext cx="153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4 求助与纠错</a:t>
            </a:r>
          </a:p>
        </p:txBody>
      </p:sp>
      <p:sp>
        <p:nvSpPr>
          <p:cNvPr id="100024" name="Journey5"/>
          <p:cNvSpPr/>
          <p:nvPr/>
        </p:nvSpPr>
        <p:spPr>
          <a:xfrm xmlns:a="http://schemas.openxmlformats.org/drawingml/2006/main">
            <a:off x="9360000" y="2538000"/>
            <a:ext cx="153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6D6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5 完成复盘</a:t>
            </a:r>
          </a:p>
        </p:txBody>
      </p:sp>
      <p:sp>
        <p:nvSpPr>
          <p:cNvPr id="100025" name="JourneyCaption"/>
          <p:cNvSpPr txBox="1"/>
          <p:nvPr/>
        </p:nvSpPr>
        <p:spPr>
          <a:xfrm xmlns:a="http://schemas.openxmlformats.org/drawingml/2006/main">
            <a:off x="1152000" y="4788000"/>
            <a:ext cx="990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479B8"/>
                </a:solidFill>
                <a:latin typeface="Microsoft YaHei"/>
                <a:ea typeface="Microsoft YaHei"/>
              </a:rPr>
              <a:t>目标：每一步既能完成，也能知道为何这样做、下次如何做得更好。</a:t>
            </a:r>
          </a:p>
        </p:txBody>
      </p:sp>
      <p:sp>
        <p:nvSpPr>
          <p:cNvPr id="100026" name="Footer3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27" name="Page3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100107" name="JourneyArrow1"/>
          <p:cNvCxnSpPr>
            <a:stCxn xmlns:a="http://schemas.openxmlformats.org/drawingml/2006/main" id="100020" idx="0"/>
            <a:endCxn xmlns:a="http://schemas.openxmlformats.org/drawingml/2006/main" id="100021" idx="0"/>
          </p:cNvCxnSpPr>
          <p:nvPr/>
        </p:nvCxnSpPr>
        <p:spPr>
          <a:xfrm xmlns:a="http://schemas.openxmlformats.org/drawingml/2006/main">
            <a:off x="2106000" y="3303000"/>
            <a:ext cx="66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08" name="JourneyArrow2"/>
          <p:cNvCxnSpPr>
            <a:stCxn xmlns:a="http://schemas.openxmlformats.org/drawingml/2006/main" id="100021" idx="0"/>
            <a:endCxn xmlns:a="http://schemas.openxmlformats.org/drawingml/2006/main" id="100022" idx="0"/>
          </p:cNvCxnSpPr>
          <p:nvPr/>
        </p:nvCxnSpPr>
        <p:spPr>
          <a:xfrm xmlns:a="http://schemas.openxmlformats.org/drawingml/2006/main">
            <a:off x="4302000" y="3303000"/>
            <a:ext cx="66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09" name="JourneyArrow3"/>
          <p:cNvCxnSpPr>
            <a:stCxn xmlns:a="http://schemas.openxmlformats.org/drawingml/2006/main" id="100022" idx="0"/>
            <a:endCxn xmlns:a="http://schemas.openxmlformats.org/drawingml/2006/main" id="100023" idx="0"/>
          </p:cNvCxnSpPr>
          <p:nvPr/>
        </p:nvCxnSpPr>
        <p:spPr>
          <a:xfrm xmlns:a="http://schemas.openxmlformats.org/drawingml/2006/main">
            <a:off x="6498000" y="3303000"/>
            <a:ext cx="66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0" name="JourneyArrow4"/>
          <p:cNvCxnSpPr>
            <a:stCxn xmlns:a="http://schemas.openxmlformats.org/drawingml/2006/main" id="100023" idx="0"/>
            <a:endCxn xmlns:a="http://schemas.openxmlformats.org/drawingml/2006/main" id="100024" idx="0"/>
          </p:cNvCxnSpPr>
          <p:nvPr/>
        </p:nvCxnSpPr>
        <p:spPr>
          <a:xfrm xmlns:a="http://schemas.openxmlformats.org/drawingml/2006/main">
            <a:off x="8694000" y="3303000"/>
            <a:ext cx="66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/>
      <p:sp>
        <p:nvSpPr>
          <p:cNvPr id="100028" name="Node4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029" name="Title4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70+ 案例验证五类实训模式</a:t>
            </a:r>
          </a:p>
        </p:txBody>
      </p:sp>
      <p:sp>
        <p:nvSpPr>
          <p:cNvPr id="100030" name="CaseNumber"/>
          <p:cNvSpPr txBox="1"/>
          <p:nvPr/>
        </p:nvSpPr>
        <p:spPr>
          <a:xfrm xmlns:a="http://schemas.openxmlformats.org/drawingml/2006/main">
            <a:off x="648000" y="1476000"/>
            <a:ext cx="3168000" cy="11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800" b="1">
                <a:solidFill>
                  <a:srgbClr val="1479B8"/>
                </a:solidFill>
                <a:latin typeface="Microsoft YaHei"/>
                <a:ea typeface="Microsoft YaHei"/>
              </a:rPr>
              <a:t>70+</a:t>
            </a:r>
          </a:p>
        </p:txBody>
      </p:sp>
      <p:sp>
        <p:nvSpPr>
          <p:cNvPr id="100031" name="CaseCaption"/>
          <p:cNvSpPr txBox="1"/>
          <p:nvPr/>
        </p:nvSpPr>
        <p:spPr>
          <a:xfrm xmlns:a="http://schemas.openxmlformats.org/drawingml/2006/main">
            <a:off x="702000" y="2448000"/>
            <a:ext cx="3060000" cy="11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pPr algn="ctr"/>
            <a:r>
              <a:rPr lang="en-US" sz="1900">
                <a:solidFill>
                  <a:srgbClr val="35536D"/>
                </a:solidFill>
                <a:latin typeface="Microsoft YaHei"/>
                <a:ea typeface="Microsoft YaHei"/>
              </a:rPr>
              <a:t>已整理的官方案例</a:t>
            </a:r>
          </a:p>
          <a:p>
            <a:pPr algn="ctr"/>
            <a:r>
              <a:rPr lang="en-US" sz="1900">
                <a:solidFill>
                  <a:srgbClr val="35536D"/>
                </a:solidFill>
                <a:latin typeface="Microsoft YaHei"/>
                <a:ea typeface="Microsoft YaHei"/>
              </a:rPr>
              <a:t>覆盖培训、工业、医疗与高风险行业</a:t>
            </a:r>
          </a:p>
        </p:txBody>
      </p:sp>
      <p:sp>
        <p:nvSpPr>
          <p:cNvPr id="100032" name="CaseCat1"/>
          <p:cNvSpPr/>
          <p:nvPr/>
        </p:nvSpPr>
        <p:spPr>
          <a:xfrm xmlns:a="http://schemas.openxmlformats.org/drawingml/2006/main">
            <a:off x="4500000" y="1548000"/>
            <a:ext cx="3222000" cy="9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AI 教练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Talespin · Virti</a:t>
            </a:r>
          </a:p>
        </p:txBody>
      </p:sp>
      <p:sp>
        <p:nvSpPr>
          <p:cNvPr id="100033" name="CaseCat2"/>
          <p:cNvSpPr/>
          <p:nvPr/>
        </p:nvSpPr>
        <p:spPr>
          <a:xfrm xmlns:a="http://schemas.openxmlformats.org/drawingml/2006/main">
            <a:off x="8010000" y="1548000"/>
            <a:ext cx="3222000" cy="9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视觉指导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xPick · Tulip</a:t>
            </a:r>
          </a:p>
        </p:txBody>
      </p:sp>
      <p:sp>
        <p:nvSpPr>
          <p:cNvPr id="100034" name="CaseCat3"/>
          <p:cNvSpPr/>
          <p:nvPr/>
        </p:nvSpPr>
        <p:spPr>
          <a:xfrm xmlns:a="http://schemas.openxmlformats.org/drawingml/2006/main">
            <a:off x="4500000" y="2826000"/>
            <a:ext cx="3222000" cy="9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5E7F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数字孪生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RobotStudio · Isaac</a:t>
            </a:r>
          </a:p>
        </p:txBody>
      </p:sp>
      <p:sp>
        <p:nvSpPr>
          <p:cNvPr id="100035" name="CaseCat4"/>
          <p:cNvSpPr/>
          <p:nvPr/>
        </p:nvSpPr>
        <p:spPr>
          <a:xfrm xmlns:a="http://schemas.openxmlformats.org/drawingml/2006/main">
            <a:off x="8010000" y="2826000"/>
            <a:ext cx="3222000" cy="9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F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学习分析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Augmentir · Interplay</a:t>
            </a:r>
          </a:p>
        </p:txBody>
      </p:sp>
      <p:sp>
        <p:nvSpPr>
          <p:cNvPr id="100036" name="CaseCat5"/>
          <p:cNvSpPr/>
          <p:nvPr/>
        </p:nvSpPr>
        <p:spPr>
          <a:xfrm xmlns:a="http://schemas.openxmlformats.org/drawingml/2006/main">
            <a:off x="4500000" y="4104000"/>
            <a:ext cx="7020000" cy="9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5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高风险训练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OMS · FLAIM</a:t>
            </a:r>
          </a:p>
        </p:txBody>
      </p:sp>
      <p:sp>
        <p:nvSpPr>
          <p:cNvPr id="100037" name="Footer4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38" name="Page4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9" name="Node5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040" name="Title5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六个案例验证 BPF 的关键能力</a:t>
            </a:r>
          </a:p>
        </p:txBody>
      </p:sp>
      <p:sp>
        <p:nvSpPr>
          <p:cNvPr id="100041" name="Similarity1"/>
          <p:cNvSpPr/>
          <p:nvPr/>
        </p:nvSpPr>
        <p:spPr>
          <a:xfrm xmlns:a="http://schemas.openxmlformats.org/drawingml/2006/main">
            <a:off x="576000" y="1530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Talespin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可追问的虚拟角色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解释与情景追问</a:t>
            </a:r>
          </a:p>
        </p:txBody>
      </p:sp>
      <p:sp>
        <p:nvSpPr>
          <p:cNvPr id="100042" name="Similarity2"/>
          <p:cNvSpPr/>
          <p:nvPr/>
        </p:nvSpPr>
        <p:spPr>
          <a:xfrm xmlns:a="http://schemas.openxmlformats.org/drawingml/2006/main">
            <a:off x="4212000" y="1530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Labster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实验中的 AI Tutor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当前步骤知识问答</a:t>
            </a:r>
          </a:p>
        </p:txBody>
      </p:sp>
      <p:sp>
        <p:nvSpPr>
          <p:cNvPr id="100043" name="Similarity3"/>
          <p:cNvSpPr/>
          <p:nvPr/>
        </p:nvSpPr>
        <p:spPr>
          <a:xfrm xmlns:a="http://schemas.openxmlformats.org/drawingml/2006/main">
            <a:off x="7848000" y="1530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TeamViewer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AR 视觉作业指导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物体、顺序、扫码确认</a:t>
            </a:r>
          </a:p>
        </p:txBody>
      </p:sp>
      <p:sp>
        <p:nvSpPr>
          <p:cNvPr id="100044" name="Similarity4"/>
          <p:cNvSpPr/>
          <p:nvPr/>
        </p:nvSpPr>
        <p:spPr>
          <a:xfrm xmlns:a="http://schemas.openxmlformats.org/drawingml/2006/main">
            <a:off x="576000" y="3438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Augmentir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技能缺口分析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错误聚类与个性化训练</a:t>
            </a:r>
          </a:p>
        </p:txBody>
      </p:sp>
      <p:sp>
        <p:nvSpPr>
          <p:cNvPr id="100045" name="Similarity5"/>
          <p:cNvSpPr/>
          <p:nvPr/>
        </p:nvSpPr>
        <p:spPr>
          <a:xfrm xmlns:a="http://schemas.openxmlformats.org/drawingml/2006/main">
            <a:off x="4212000" y="3438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Tulip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视觉质检与现场 Copilot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过程数据的自然语言查询</a:t>
            </a:r>
          </a:p>
        </p:txBody>
      </p:sp>
      <p:sp>
        <p:nvSpPr>
          <p:cNvPr id="100046" name="Similarity6"/>
          <p:cNvSpPr/>
          <p:nvPr/>
        </p:nvSpPr>
        <p:spPr>
          <a:xfrm xmlns:a="http://schemas.openxmlformats.org/drawingml/2006/main">
            <a:off x="7848000" y="3438000"/>
            <a:ext cx="3348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Interplay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职业技能学习路径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下一模块与补练推荐</a:t>
            </a:r>
          </a:p>
        </p:txBody>
      </p:sp>
      <p:sp>
        <p:nvSpPr>
          <p:cNvPr id="100047" name="Footer5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48" name="Page5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/>
      <p:sp>
        <p:nvSpPr>
          <p:cNvPr id="100049" name="Node6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0050" name="Title6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五种能力形成“解释—练习—复盘”闭环</a:t>
            </a:r>
          </a:p>
        </p:txBody>
      </p:sp>
      <p:sp>
        <p:nvSpPr>
          <p:cNvPr id="100051" name="Capability1"/>
          <p:cNvSpPr/>
          <p:nvPr/>
        </p:nvSpPr>
        <p:spPr>
          <a:xfrm xmlns:a="http://schemas.openxmlformats.org/drawingml/2006/main">
            <a:off x="612000" y="2160000"/>
            <a:ext cx="1926000" cy="20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问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当前步骤问答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绑定 Node / Topic / Step</a:t>
            </a:r>
          </a:p>
        </p:txBody>
      </p:sp>
      <p:sp>
        <p:nvSpPr>
          <p:cNvPr id="100052" name="Capability2"/>
          <p:cNvSpPr/>
          <p:nvPr/>
        </p:nvSpPr>
        <p:spPr>
          <a:xfrm xmlns:a="http://schemas.openxmlformats.org/drawingml/2006/main">
            <a:off x="2844000" y="2160000"/>
            <a:ext cx="1926000" cy="20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F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提示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三级提示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方向 → 条件 → 示范</a:t>
            </a:r>
          </a:p>
        </p:txBody>
      </p:sp>
      <p:sp>
        <p:nvSpPr>
          <p:cNvPr id="100053" name="Capability3"/>
          <p:cNvSpPr/>
          <p:nvPr/>
        </p:nvSpPr>
        <p:spPr>
          <a:xfrm xmlns:a="http://schemas.openxmlformats.org/drawingml/2006/main">
            <a:off x="5076000" y="2160000"/>
            <a:ext cx="1926000" cy="20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F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观察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过程事件记录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耗时、重试、对象与工具</a:t>
            </a:r>
          </a:p>
        </p:txBody>
      </p:sp>
      <p:sp>
        <p:nvSpPr>
          <p:cNvPr id="100054" name="Capability4"/>
          <p:cNvSpPr/>
          <p:nvPr/>
        </p:nvSpPr>
        <p:spPr>
          <a:xfrm xmlns:a="http://schemas.openxmlformats.org/drawingml/2006/main">
            <a:off x="7308000" y="2160000"/>
            <a:ext cx="1926000" cy="20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F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复盘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个人训练报告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错误类型与三条改进建议</a:t>
            </a:r>
          </a:p>
        </p:txBody>
      </p:sp>
      <p:sp>
        <p:nvSpPr>
          <p:cNvPr id="100055" name="Capability5"/>
          <p:cNvSpPr/>
          <p:nvPr/>
        </p:nvSpPr>
        <p:spPr>
          <a:xfrm xmlns:a="http://schemas.openxmlformats.org/drawingml/2006/main">
            <a:off x="9540000" y="2160000"/>
            <a:ext cx="1926000" cy="20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弱项补练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推荐模块、题目或场景变体</a:t>
            </a:r>
          </a:p>
        </p:txBody>
      </p:sp>
      <p:sp>
        <p:nvSpPr>
          <p:cNvPr id="100056" name="LoopCaption"/>
          <p:cNvSpPr txBox="1"/>
          <p:nvPr/>
        </p:nvSpPr>
        <p:spPr>
          <a:xfrm xmlns:a="http://schemas.openxmlformats.org/drawingml/2006/main">
            <a:off x="1800000" y="4680000"/>
            <a:ext cx="8640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300" b="1">
                <a:solidFill>
                  <a:srgbClr val="1479B8"/>
                </a:solidFill>
                <a:latin typeface="Microsoft YaHei"/>
                <a:ea typeface="Microsoft YaHei"/>
              </a:rPr>
              <a:t>不是“万能 AI”，而是五个受控能力的组合。</a:t>
            </a:r>
          </a:p>
        </p:txBody>
      </p:sp>
      <p:sp>
        <p:nvSpPr>
          <p:cNvPr id="100057" name="Footer6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58" name="Page6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9" name="Node7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0060" name="Title7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AI 应进入训练现场，而非停留在流程外</a:t>
            </a:r>
          </a:p>
        </p:txBody>
      </p:sp>
      <p:sp>
        <p:nvSpPr>
          <p:cNvPr id="100061" name="Flow1"/>
          <p:cNvSpPr/>
          <p:nvPr/>
        </p:nvSpPr>
        <p:spPr>
          <a:xfrm xmlns:a="http://schemas.openxmlformats.org/drawingml/2006/main">
            <a:off x="468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进入模块</a:t>
            </a:r>
          </a:p>
        </p:txBody>
      </p:sp>
      <p:sp>
        <p:nvSpPr>
          <p:cNvPr id="100062" name="Flow2"/>
          <p:cNvSpPr/>
          <p:nvPr/>
        </p:nvSpPr>
        <p:spPr>
          <a:xfrm xmlns:a="http://schemas.openxmlformats.org/drawingml/2006/main">
            <a:off x="2394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执行操作</a:t>
            </a:r>
          </a:p>
        </p:txBody>
      </p:sp>
      <p:sp>
        <p:nvSpPr>
          <p:cNvPr id="100063" name="Flow3"/>
          <p:cNvSpPr/>
          <p:nvPr/>
        </p:nvSpPr>
        <p:spPr>
          <a:xfrm xmlns:a="http://schemas.openxmlformats.org/drawingml/2006/main">
            <a:off x="4320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请求提示</a:t>
            </a:r>
          </a:p>
        </p:txBody>
      </p:sp>
      <p:sp>
        <p:nvSpPr>
          <p:cNvPr id="100064" name="Flow4"/>
          <p:cNvSpPr/>
          <p:nvPr/>
        </p:nvSpPr>
        <p:spPr>
          <a:xfrm xmlns:a="http://schemas.openxmlformats.org/drawingml/2006/main">
            <a:off x="6246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完成任务</a:t>
            </a:r>
          </a:p>
        </p:txBody>
      </p:sp>
      <p:sp>
        <p:nvSpPr>
          <p:cNvPr id="100065" name="Flow5"/>
          <p:cNvSpPr/>
          <p:nvPr/>
        </p:nvSpPr>
        <p:spPr>
          <a:xfrm xmlns:a="http://schemas.openxmlformats.org/drawingml/2006/main">
            <a:off x="8172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AI 复盘</a:t>
            </a:r>
          </a:p>
        </p:txBody>
      </p:sp>
      <p:sp>
        <p:nvSpPr>
          <p:cNvPr id="100066" name="Flow6"/>
          <p:cNvSpPr/>
          <p:nvPr/>
        </p:nvSpPr>
        <p:spPr>
          <a:xfrm xmlns:a="http://schemas.openxmlformats.org/drawingml/2006/main">
            <a:off x="10098000" y="2664000"/>
            <a:ext cx="1620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推荐补练</a:t>
            </a:r>
          </a:p>
        </p:txBody>
      </p:sp>
      <p:sp>
        <p:nvSpPr>
          <p:cNvPr id="100067" name="FlowTop"/>
          <p:cNvSpPr txBox="1"/>
          <p:nvPr/>
        </p:nvSpPr>
        <p:spPr>
          <a:xfrm xmlns:a="http://schemas.openxmlformats.org/drawingml/2006/main">
            <a:off x="2088000" y="1620000"/>
            <a:ext cx="810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1479B8"/>
                </a:solidFill>
                <a:latin typeface="Microsoft YaHei"/>
                <a:ea typeface="Microsoft YaHei"/>
              </a:rPr>
              <a:t>训练中：只围绕当前上下文提供受控帮助</a:t>
            </a:r>
          </a:p>
        </p:txBody>
      </p:sp>
      <p:sp>
        <p:nvSpPr>
          <p:cNvPr id="100068" name="Footer7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69" name="Page7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07</a:t>
            </a:r>
          </a:p>
        </p:txBody>
      </p:sp>
      <p:cxnSp>
        <p:nvCxnSpPr>
          <p:cNvPr id="100111" name="FlowArrow1"/>
          <p:cNvCxnSpPr>
            <a:stCxn xmlns:a="http://schemas.openxmlformats.org/drawingml/2006/main" id="100061" idx="0"/>
            <a:endCxn xmlns:a="http://schemas.openxmlformats.org/drawingml/2006/main" id="100062" idx="0"/>
          </p:cNvCxnSpPr>
          <p:nvPr/>
        </p:nvCxnSpPr>
        <p:spPr>
          <a:xfrm xmlns:a="http://schemas.openxmlformats.org/drawingml/2006/main">
            <a:off x="2088000" y="3222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2" name="FlowArrow2"/>
          <p:cNvCxnSpPr>
            <a:stCxn xmlns:a="http://schemas.openxmlformats.org/drawingml/2006/main" id="100062" idx="0"/>
            <a:endCxn xmlns:a="http://schemas.openxmlformats.org/drawingml/2006/main" id="100063" idx="0"/>
          </p:cNvCxnSpPr>
          <p:nvPr/>
        </p:nvCxnSpPr>
        <p:spPr>
          <a:xfrm xmlns:a="http://schemas.openxmlformats.org/drawingml/2006/main">
            <a:off x="4014000" y="3222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3" name="FlowArrow3"/>
          <p:cNvCxnSpPr>
            <a:stCxn xmlns:a="http://schemas.openxmlformats.org/drawingml/2006/main" id="100063" idx="0"/>
            <a:endCxn xmlns:a="http://schemas.openxmlformats.org/drawingml/2006/main" id="100064" idx="0"/>
          </p:cNvCxnSpPr>
          <p:nvPr/>
        </p:nvCxnSpPr>
        <p:spPr>
          <a:xfrm xmlns:a="http://schemas.openxmlformats.org/drawingml/2006/main">
            <a:off x="5940000" y="3222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4" name="FlowArrow4"/>
          <p:cNvCxnSpPr>
            <a:stCxn xmlns:a="http://schemas.openxmlformats.org/drawingml/2006/main" id="100064" idx="0"/>
            <a:endCxn xmlns:a="http://schemas.openxmlformats.org/drawingml/2006/main" id="100065" idx="0"/>
          </p:cNvCxnSpPr>
          <p:nvPr/>
        </p:nvCxnSpPr>
        <p:spPr>
          <a:xfrm xmlns:a="http://schemas.openxmlformats.org/drawingml/2006/main">
            <a:off x="7866000" y="3222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5" name="FlowArrow5"/>
          <p:cNvCxnSpPr>
            <a:stCxn xmlns:a="http://schemas.openxmlformats.org/drawingml/2006/main" id="100065" idx="0"/>
            <a:endCxn xmlns:a="http://schemas.openxmlformats.org/drawingml/2006/main" id="100066" idx="0"/>
          </p:cNvCxnSpPr>
          <p:nvPr/>
        </p:nvCxnSpPr>
        <p:spPr>
          <a:xfrm xmlns:a="http://schemas.openxmlformats.org/drawingml/2006/main">
            <a:off x="9792000" y="3222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/>
      <p:sp>
        <p:nvSpPr>
          <p:cNvPr id="100070" name="Node8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00071" name="Title8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系统边界：TexCore 裁决，AI 解释与建议</a:t>
            </a:r>
          </a:p>
        </p:txBody>
      </p:sp>
      <p:sp>
        <p:nvSpPr>
          <p:cNvPr id="100072" name="CorePanel"/>
          <p:cNvSpPr/>
          <p:nvPr/>
        </p:nvSpPr>
        <p:spPr>
          <a:xfrm xmlns:a="http://schemas.openxmlformats.org/drawingml/2006/main">
            <a:off x="576000" y="1512000"/>
            <a:ext cx="4932000" cy="38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TexCore · 确定性业务底座</a:t>
            </a:r>
          </a:p>
          <a:p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步骤状态 stepIndex</a:t>
            </a:r>
          </a:p>
          <a:p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积分与完成门禁</a:t>
            </a:r>
          </a:p>
          <a:p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考核通过与模块结算</a:t>
            </a:r>
          </a:p>
          <a:p>
            <a:pPr algn="ctr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交互对象与场景流程</a:t>
            </a:r>
          </a:p>
        </p:txBody>
      </p:sp>
      <p:sp>
        <p:nvSpPr>
          <p:cNvPr id="100073" name="AiPanel"/>
          <p:cNvSpPr/>
          <p:nvPr/>
        </p:nvSpPr>
        <p:spPr>
          <a:xfrm xmlns:a="http://schemas.openxmlformats.org/drawingml/2006/main">
            <a:off x="6516000" y="1512000"/>
            <a:ext cx="4932000" cy="38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4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2100" b="1">
                <a:solidFill>
                  <a:srgbClr val="0A2540"/>
                </a:solidFill>
                <a:latin typeface="Microsoft YaHei"/>
                <a:ea typeface="Microsoft YaHei"/>
              </a:rPr>
              <a:t>AI · 受控陪练服务</a:t>
            </a:r>
          </a:p>
          <a:p>
            <a:pPr algn="ctr"/>
            <a:r>
              <a:rPr lang="en-US" sz="2100" b="1">
                <a:solidFill>
                  <a:srgbClr val="0A2540"/>
                </a:solidFill>
                <a:latin typeface="Microsoft YaHei"/>
                <a:ea typeface="Microsoft YaHei"/>
              </a:rPr>
              <a:t>解释概念与错误原因</a:t>
            </a:r>
          </a:p>
          <a:p>
            <a:pPr algn="ctr"/>
            <a:r>
              <a:rPr lang="en-US" sz="2100" b="1">
                <a:solidFill>
                  <a:srgbClr val="0A2540"/>
                </a:solidFill>
                <a:latin typeface="Microsoft YaHei"/>
                <a:ea typeface="Microsoft YaHei"/>
              </a:rPr>
              <a:t>生成分级提示与追问</a:t>
            </a:r>
          </a:p>
          <a:p>
            <a:pPr algn="ctr"/>
            <a:r>
              <a:rPr lang="en-US" sz="2100" b="1">
                <a:solidFill>
                  <a:srgbClr val="0A2540"/>
                </a:solidFill>
                <a:latin typeface="Microsoft YaHei"/>
                <a:ea typeface="Microsoft YaHei"/>
              </a:rPr>
              <a:t>汇总过程数据并复盘</a:t>
            </a:r>
          </a:p>
          <a:p>
            <a:pPr algn="ctr"/>
            <a:r>
              <a:rPr lang="en-US" sz="2100" b="1">
                <a:solidFill>
                  <a:srgbClr val="0A2540"/>
                </a:solidFill>
                <a:latin typeface="Microsoft YaHei"/>
                <a:ea typeface="Microsoft YaHei"/>
              </a:rPr>
              <a:t>推荐下一次训练内容</a:t>
            </a:r>
          </a:p>
        </p:txBody>
      </p:sp>
      <p:sp>
        <p:nvSpPr>
          <p:cNvPr id="100074" name="Boundary"/>
          <p:cNvSpPr/>
          <p:nvPr/>
        </p:nvSpPr>
        <p:spPr>
          <a:xfrm xmlns:a="http://schemas.openxmlformats.org/drawingml/2006/main">
            <a:off x="4716000" y="2916000"/>
            <a:ext cx="2808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6D6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AI 不直接改写业务状态</a:t>
            </a:r>
          </a:p>
        </p:txBody>
      </p:sp>
      <p:sp>
        <p:nvSpPr>
          <p:cNvPr id="100075" name="Footer8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76" name="Page8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7" name="Node9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100078" name="Title9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三类模块：由陪练到视觉与风险评价</a:t>
            </a:r>
          </a:p>
        </p:txBody>
      </p:sp>
      <p:sp>
        <p:nvSpPr>
          <p:cNvPr id="100079" name="Pilot1"/>
          <p:cNvSpPr/>
          <p:nvPr/>
        </p:nvSpPr>
        <p:spPr>
          <a:xfrm xmlns:a="http://schemas.openxmlformats.org/drawingml/2006/main">
            <a:off x="576000" y="1800000"/>
            <a:ext cx="3384000" cy="29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M02 服务器系统安装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问答、提示、复盘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首选：先验证陪练价值</a:t>
            </a:r>
          </a:p>
        </p:txBody>
      </p:sp>
      <p:sp>
        <p:nvSpPr>
          <p:cNvPr id="100080" name="Pilot2"/>
          <p:cNvSpPr/>
          <p:nvPr/>
        </p:nvSpPr>
        <p:spPr>
          <a:xfrm xmlns:a="http://schemas.openxmlformats.org/drawingml/2006/main">
            <a:off x="4302000" y="1800000"/>
            <a:ext cx="3384000" cy="29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M05 划线贴码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位置与轨迹提示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第二步：验证视觉辅助</a:t>
            </a:r>
          </a:p>
        </p:txBody>
      </p:sp>
      <p:sp>
        <p:nvSpPr>
          <p:cNvPr id="100081" name="Pilot3"/>
          <p:cNvSpPr/>
          <p:nvPr/>
        </p:nvSpPr>
        <p:spPr>
          <a:xfrm xmlns:a="http://schemas.openxmlformats.org/drawingml/2006/main">
            <a:off x="8028000" y="1800000"/>
            <a:ext cx="3384000" cy="29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7F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M09/M10 机器人与货架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路径、安全与场景变体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后续：验证风险与效率</a:t>
            </a:r>
          </a:p>
        </p:txBody>
      </p:sp>
      <p:sp>
        <p:nvSpPr>
          <p:cNvPr id="100082" name="Footer9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83" name="Page9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/>
      <p:sp>
        <p:nvSpPr>
          <p:cNvPr id="100084" name="Node10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100085" name="Title10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首个 MVP：四项能力，原流程不变</a:t>
            </a:r>
          </a:p>
        </p:txBody>
      </p:sp>
      <p:sp>
        <p:nvSpPr>
          <p:cNvPr id="100086" name="Mvp1"/>
          <p:cNvSpPr/>
          <p:nvPr/>
        </p:nvSpPr>
        <p:spPr>
          <a:xfrm xmlns:a="http://schemas.openxmlformats.org/drawingml/2006/main">
            <a:off x="576000" y="1494000"/>
            <a:ext cx="5148000" cy="14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1  步骤知识助手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回答“为什么这样设置？”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答案显示当前步骤来源</a:t>
            </a:r>
          </a:p>
        </p:txBody>
      </p:sp>
      <p:sp>
        <p:nvSpPr>
          <p:cNvPr id="100087" name="Mvp2"/>
          <p:cNvSpPr/>
          <p:nvPr/>
        </p:nvSpPr>
        <p:spPr>
          <a:xfrm xmlns:a="http://schemas.openxmlformats.org/drawingml/2006/main">
            <a:off x="6156000" y="1494000"/>
            <a:ext cx="5148000" cy="14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2  三级提示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方向 → 关键条件 → 示例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考核模式关闭答案</a:t>
            </a:r>
          </a:p>
        </p:txBody>
      </p:sp>
      <p:sp>
        <p:nvSpPr>
          <p:cNvPr id="100088" name="Mvp3"/>
          <p:cNvSpPr/>
          <p:nvPr/>
        </p:nvSpPr>
        <p:spPr>
          <a:xfrm xmlns:a="http://schemas.openxmlformats.org/drawingml/2006/main">
            <a:off x="576000" y="3330000"/>
            <a:ext cx="5148000" cy="14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3  过程事件记录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耗时、重试、提示次数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错误类型与关键对象</a:t>
            </a:r>
          </a:p>
        </p:txBody>
      </p:sp>
      <p:sp>
        <p:nvSpPr>
          <p:cNvPr id="100089" name="Mvp4"/>
          <p:cNvSpPr/>
          <p:nvPr/>
        </p:nvSpPr>
        <p:spPr>
          <a:xfrm xmlns:a="http://schemas.openxmlformats.org/drawingml/2006/main">
            <a:off x="6156000" y="3330000"/>
            <a:ext cx="5148000" cy="14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4  训练后复盘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自动生成三条改进建议</a:t>
            </a:r>
          </a:p>
          <a:p>
            <a:pPr algn="ctr"/>
            <a:r>
              <a:rPr lang="en-US" sz="1800" b="1">
                <a:solidFill>
                  <a:srgbClr val="0A2540"/>
                </a:solidFill>
                <a:latin typeface="Microsoft YaHei"/>
                <a:ea typeface="Microsoft YaHei"/>
              </a:rPr>
              <a:t>保留教师人工复核</a:t>
            </a:r>
          </a:p>
        </p:txBody>
      </p:sp>
      <p:sp>
        <p:nvSpPr>
          <p:cNvPr id="100090" name="Fallback"/>
          <p:cNvSpPr/>
          <p:nvPr/>
        </p:nvSpPr>
        <p:spPr>
          <a:xfrm xmlns:a="http://schemas.openxmlformats.org/drawingml/2006/main">
            <a:off x="1872000" y="5418000"/>
            <a:ext cx="8460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离线或服务异常：退回预置提示；原 TexCore 控制器流程不受影响。</a:t>
            </a:r>
          </a:p>
        </p:txBody>
      </p:sp>
      <p:sp>
        <p:nvSpPr>
          <p:cNvPr id="100091" name="Footer10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092" name="Page10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3" name="Node11"/>
          <p:cNvSpPr/>
          <p:nvPr/>
        </p:nvSpPr>
        <p:spPr>
          <a:xfrm xmlns:a="http://schemas.openxmlformats.org/drawingml/2006/main">
            <a:off x="540000" y="403200"/>
            <a:ext cx="4680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0094" name="Title11"/>
          <p:cNvSpPr txBox="1"/>
          <p:nvPr/>
        </p:nvSpPr>
        <p:spPr>
          <a:xfrm xmlns:a="http://schemas.openxmlformats.org/drawingml/2006/main">
            <a:off x="1116000" y="324000"/>
            <a:ext cx="10296000" cy="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540"/>
                </a:solidFill>
                <a:latin typeface="Microsoft YaHei"/>
                <a:ea typeface="Microsoft YaHei"/>
              </a:rPr>
              <a:t>路线图：先验证学习效果，再扩大能力范围</a:t>
            </a:r>
          </a:p>
        </p:txBody>
      </p:sp>
      <p:sp>
        <p:nvSpPr>
          <p:cNvPr id="100095" name="Road1"/>
          <p:cNvSpPr/>
          <p:nvPr/>
        </p:nvSpPr>
        <p:spPr>
          <a:xfrm xmlns:a="http://schemas.openxmlformats.org/drawingml/2006/main">
            <a:off x="540000" y="2232000"/>
            <a:ext cx="2412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阶段 1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M02 陪练 MVP</a:t>
            </a:r>
          </a:p>
          <a:p>
            <a:pPr algn="ctr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问答、提示、事件、复盘</a:t>
            </a:r>
          </a:p>
        </p:txBody>
      </p:sp>
      <p:sp>
        <p:nvSpPr>
          <p:cNvPr id="100096" name="Road2"/>
          <p:cNvSpPr/>
          <p:nvPr/>
        </p:nvSpPr>
        <p:spPr>
          <a:xfrm xmlns:a="http://schemas.openxmlformats.org/drawingml/2006/main">
            <a:off x="3420000" y="2232000"/>
            <a:ext cx="2412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5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阶段 2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效果验证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比较提示依赖、耗时、重试与反馈</a:t>
            </a:r>
          </a:p>
        </p:txBody>
      </p:sp>
      <p:sp>
        <p:nvSpPr>
          <p:cNvPr id="100097" name="Road3"/>
          <p:cNvSpPr/>
          <p:nvPr/>
        </p:nvSpPr>
        <p:spPr>
          <a:xfrm xmlns:a="http://schemas.openxmlformats.org/drawingml/2006/main">
            <a:off x="6300000" y="2232000"/>
            <a:ext cx="2412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5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阶段 3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视觉辅助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从 M05 开始做定位与质量提示</a:t>
            </a:r>
          </a:p>
        </p:txBody>
      </p:sp>
      <p:sp>
        <p:nvSpPr>
          <p:cNvPr id="100098" name="Road4"/>
          <p:cNvSpPr/>
          <p:nvPr/>
        </p:nvSpPr>
        <p:spPr>
          <a:xfrm xmlns:a="http://schemas.openxmlformats.org/drawingml/2006/main">
            <a:off x="9180000" y="2232000"/>
            <a:ext cx="2412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5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阶段 4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教师端分析</a:t>
            </a:r>
          </a:p>
          <a:p>
            <a:pPr algn="ctr"/>
            <a:r>
              <a:rPr lang="en-US" sz="1700" b="1">
                <a:solidFill>
                  <a:srgbClr val="0A2540"/>
                </a:solidFill>
                <a:latin typeface="Microsoft YaHei"/>
                <a:ea typeface="Microsoft YaHei"/>
              </a:rPr>
              <a:t>错误聚类、技能画像与训练推荐</a:t>
            </a:r>
          </a:p>
        </p:txBody>
      </p:sp>
      <p:sp>
        <p:nvSpPr>
          <p:cNvPr id="100099" name="DecisionAsk"/>
          <p:cNvSpPr/>
          <p:nvPr/>
        </p:nvSpPr>
        <p:spPr>
          <a:xfrm xmlns:a="http://schemas.openxmlformats.org/drawingml/2006/main">
            <a:off x="1980000" y="4788000"/>
            <a:ext cx="828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Microsoft YaHei"/>
                <a:ea typeface="Microsoft YaHei"/>
              </a:rPr>
              <a:t>建议本轮决策：确认 M02 服务器系统安装为首个 AI 试点。</a:t>
            </a:r>
          </a:p>
        </p:txBody>
      </p:sp>
      <p:sp>
        <p:nvSpPr>
          <p:cNvPr id="100100" name="Footer11"/>
          <p:cNvSpPr txBox="1"/>
          <p:nvPr/>
        </p:nvSpPr>
        <p:spPr>
          <a:xfrm xmlns:a="http://schemas.openxmlformats.org/drawingml/2006/main">
            <a:off x="540000" y="6220800"/>
            <a:ext cx="7200000" cy="28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A7188"/>
                </a:solidFill>
                <a:latin typeface="Microsoft YaHei"/>
                <a:ea typeface="Microsoft YaHei"/>
              </a:rPr>
              <a:t>BPF MR 实训 · 技术团队汇报</a:t>
            </a:r>
          </a:p>
        </p:txBody>
      </p:sp>
      <p:sp>
        <p:nvSpPr>
          <p:cNvPr id="100101" name="Page11"/>
          <p:cNvSpPr txBox="1"/>
          <p:nvPr/>
        </p:nvSpPr>
        <p:spPr>
          <a:xfrm xmlns:a="http://schemas.openxmlformats.org/drawingml/2006/main">
            <a:off x="10656000" y="6192000"/>
            <a:ext cx="9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 b="1">
                <a:solidFill>
                  <a:srgbClr val="5A7188"/>
                </a:solidFill>
                <a:latin typeface="Microsoft YaHei"/>
                <a:ea typeface="Microsoft YaHei"/>
              </a:rPr>
              <a:t>11</a:t>
            </a:r>
          </a:p>
        </p:txBody>
      </p:sp>
      <p:cxnSp>
        <p:nvCxnSpPr>
          <p:cNvPr id="100116" name="RoadArrow1"/>
          <p:cNvCxnSpPr>
            <a:stCxn xmlns:a="http://schemas.openxmlformats.org/drawingml/2006/main" id="100095" idx="0"/>
            <a:endCxn xmlns:a="http://schemas.openxmlformats.org/drawingml/2006/main" id="100096" idx="0"/>
          </p:cNvCxnSpPr>
          <p:nvPr/>
        </p:nvCxnSpPr>
        <p:spPr>
          <a:xfrm xmlns:a="http://schemas.openxmlformats.org/drawingml/2006/main">
            <a:off x="2952000" y="3150000"/>
            <a:ext cx="4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7" name="RoadArrow2"/>
          <p:cNvCxnSpPr>
            <a:stCxn xmlns:a="http://schemas.openxmlformats.org/drawingml/2006/main" id="100096" idx="0"/>
            <a:endCxn xmlns:a="http://schemas.openxmlformats.org/drawingml/2006/main" id="100097" idx="0"/>
          </p:cNvCxnSpPr>
          <p:nvPr/>
        </p:nvCxnSpPr>
        <p:spPr>
          <a:xfrm xmlns:a="http://schemas.openxmlformats.org/drawingml/2006/main">
            <a:off x="5832000" y="3150000"/>
            <a:ext cx="4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  <p:cxnSp>
        <p:nvCxnSpPr>
          <p:cNvPr id="100118" name="RoadArrow3"/>
          <p:cNvCxnSpPr>
            <a:stCxn xmlns:a="http://schemas.openxmlformats.org/drawingml/2006/main" id="100097" idx="0"/>
            <a:endCxn xmlns:a="http://schemas.openxmlformats.org/drawingml/2006/main" id="100098" idx="0"/>
          </p:cNvCxnSpPr>
          <p:nvPr/>
        </p:nvCxnSpPr>
        <p:spPr>
          <a:xfrm xmlns:a="http://schemas.openxmlformats.org/drawingml/2006/main">
            <a:off x="8712000" y="3150000"/>
            <a:ext cx="4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9B8"/>
            </a:solidFill>
            <a:tailEnd type="triangle"/>
          </a:ln>
        </p:spPr>
      </p:cxn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/>
      <p:sp>
        <p:nvSpPr>
          <p:cNvPr id="100102" name="SourceOrb"/>
          <p:cNvSpPr/>
          <p:nvPr/>
        </p:nvSpPr>
        <p:spPr>
          <a:xfrm xmlns:a="http://schemas.openxmlformats.org/drawingml/2006/main">
            <a:off x="8820000" y="-1260000"/>
            <a:ext cx="4680000" cy="46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7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CloseKicker"/>
          <p:cNvSpPr txBox="1"/>
          <p:nvPr/>
        </p:nvSpPr>
        <p:spPr>
          <a:xfrm xmlns:a="http://schemas.openxmlformats.org/drawingml/2006/main">
            <a:off x="1080000" y="1008000"/>
            <a:ext cx="2880000" cy="4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FEA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00104" name="CloseTitle"/>
          <p:cNvSpPr txBox="1"/>
          <p:nvPr/>
        </p:nvSpPr>
        <p:spPr>
          <a:xfrm xmlns:a="http://schemas.openxmlformats.org/drawingml/2006/main">
            <a:off x="1080000" y="1458000"/>
            <a:ext cx="900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Microsoft YaHei"/>
                <a:ea typeface="Microsoft YaHei"/>
              </a:rPr>
              <a:t>确认 M02 试点，进入用户验证</a:t>
            </a:r>
          </a:p>
        </p:txBody>
      </p:sp>
      <p:sp>
        <p:nvSpPr>
          <p:cNvPr id="100105" name="CloseAction"/>
          <p:cNvSpPr/>
          <p:nvPr/>
        </p:nvSpPr>
        <p:spPr>
          <a:xfrm xmlns:a="http://schemas.openxmlformats.org/drawingml/2006/main">
            <a:off x="1080000" y="2880000"/>
            <a:ext cx="9432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ctr"/>
            <a:r>
              <a:rPr lang="en-US" sz="2000" b="1">
                <a:solidFill>
                  <a:srgbClr val="FFFFFF"/>
                </a:solidFill>
                <a:latin typeface="Microsoft YaHei"/>
                <a:ea typeface="Microsoft YaHei"/>
              </a:rPr>
              <a:t>输出物：受控问答 · 三级提示 · 过程事件 · 训练复盘</a:t>
            </a:r>
          </a:p>
          <a:p>
            <a:pPr algn="ctr"/>
            <a:r>
              <a:rPr lang="en-US" sz="2000" b="1">
                <a:solidFill>
                  <a:srgbClr val="FFFFFF"/>
                </a:solidFill>
                <a:latin typeface="Microsoft YaHei"/>
                <a:ea typeface="Microsoft YaHei"/>
              </a:rPr>
              <a:t>验收重点：用户是否更快理解、更少试错、更容易被教师辅导。</a:t>
            </a:r>
          </a:p>
        </p:txBody>
      </p:sp>
      <p:sp>
        <p:nvSpPr>
          <p:cNvPr id="100106" name="Sources"/>
          <p:cNvSpPr txBox="1"/>
          <p:nvPr/>
        </p:nvSpPr>
        <p:spPr>
          <a:xfrm xmlns:a="http://schemas.openxmlformats.org/drawingml/2006/main">
            <a:off x="1080000" y="4680000"/>
            <a:ext cx="9000000" cy="9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 sz="1500">
                <a:solidFill>
                  <a:srgbClr val="CFE6F6"/>
                </a:solidFill>
                <a:latin typeface="Microsoft YaHei"/>
                <a:ea typeface="Microsoft YaHei"/>
              </a:rPr>
              <a:t>资料来源：两份案例调研文档</a:t>
            </a:r>
          </a:p>
          <a:p>
            <a:r>
              <a:rPr lang="en-US" sz="1500">
                <a:solidFill>
                  <a:srgbClr val="CFE6F6"/>
                </a:solidFill>
                <a:latin typeface="Microsoft YaHei"/>
                <a:ea typeface="Microsoft YaHei"/>
              </a:rPr>
              <a:t>完整案例与官方链接见配套调研材料。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2026-08-26T19:28:59Z</dcterms:created>
  <cp:lastModifiedBy>OfficeCLI</cp:lastModifiedBy>
  <dcterms:modified xsi:type="dcterms:W3CDTF">2026-08-26T19:28:59Z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1.0.145</vt:lpwstr>
  </op:property>
  <op:property fmtid="{D5CDD505-2E9C-101B-9397-08002B2CF9AE}" pid="3" name="OfficeCLI.LastModified">
    <vt:lpwstr xmlns:vt="http://schemas.openxmlformats.org/officeDocument/2006/docPropsVTypes">2026-08-26T19:41:23Z</vt:lpwstr>
  </op:property>
</op:Properties>
</file>