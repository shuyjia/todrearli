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77e362379c64b44" /><Relationship Type="http://schemas.openxmlformats.org/package/2006/relationships/metadata/core-properties" Target="/docProps/core.xml" Id="R40496f7827b64f60" /><Relationship Type="http://schemas.openxmlformats.org/officeDocument/2006/relationships/extended-properties" Target="/docProps/app.xml" Id="R37040157764e4c2d" /><Relationship Type="http://schemas.openxmlformats.org/officeDocument/2006/relationships/custom-properties" Target="/docProps/custom.xml" Id="R9a346e1f89d3464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e7033608106b45f2"/>
  </p:notesMasterIdLst>
  <p:sldIdLst>
    <p:sldId id="256" r:id="Rafc02bffb1824d94"/>
    <p:sldId id="257" r:id="Ra194101816e942cd"/>
    <p:sldId id="258" r:id="R38edc3f36c5c443b"/>
    <p:sldId id="259" r:id="R03cbc76c7aae46f7"/>
    <p:sldId id="260" r:id="Rd625df167a4e4986"/>
    <p:sldId id="261" r:id="R983e9bd4541f4034"/>
    <p:sldId id="262" r:id="R753335c1d1de443f"/>
    <p:sldId id="263" r:id="R48cf5e7f232643fb"/>
    <p:sldId id="264" r:id="R0df30e5bc8084aa5"/>
    <p:sldId id="265" r:id="R311b8165750d489e"/>
    <p:sldId id="266" r:id="R036f44e9665046de"/>
    <p:sldId id="267" r:id="R8eff443da6834bb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fc02bffb1824d94" /><Relationship Type="http://schemas.openxmlformats.org/officeDocument/2006/relationships/notesMaster" Target="/ppt/notesMasters/notesMaster1.xml" Id="Re7033608106b45f2" /><Relationship Type="http://schemas.openxmlformats.org/officeDocument/2006/relationships/slide" Target="/ppt/slides/slide2.xml" Id="Ra194101816e942cd" /><Relationship Type="http://schemas.openxmlformats.org/officeDocument/2006/relationships/slide" Target="/ppt/slides/slide3.xml" Id="R38edc3f36c5c443b" /><Relationship Type="http://schemas.openxmlformats.org/officeDocument/2006/relationships/slide" Target="/ppt/slides/slide4.xml" Id="R03cbc76c7aae46f7" /><Relationship Type="http://schemas.openxmlformats.org/officeDocument/2006/relationships/slide" Target="/ppt/slides/slide5.xml" Id="Rd625df167a4e4986" /><Relationship Type="http://schemas.openxmlformats.org/officeDocument/2006/relationships/slide" Target="/ppt/slides/slide6.xml" Id="R983e9bd4541f4034" /><Relationship Type="http://schemas.openxmlformats.org/officeDocument/2006/relationships/slide" Target="/ppt/slides/slide7.xml" Id="R753335c1d1de443f" /><Relationship Type="http://schemas.openxmlformats.org/officeDocument/2006/relationships/slide" Target="/ppt/slides/slide8.xml" Id="R48cf5e7f232643fb" /><Relationship Type="http://schemas.openxmlformats.org/officeDocument/2006/relationships/slide" Target="/ppt/slides/slide9.xml" Id="R0df30e5bc8084aa5" /><Relationship Type="http://schemas.openxmlformats.org/officeDocument/2006/relationships/slide" Target="/ppt/slides/slide10.xml" Id="R311b8165750d489e" /><Relationship Type="http://schemas.openxmlformats.org/officeDocument/2006/relationships/slide" Target="/ppt/slides/slide11.xml" Id="R036f44e9665046de" /><Relationship Type="http://schemas.openxmlformats.org/officeDocument/2006/relationships/slide" Target="/ppt/slides/slide12.xml" Id="R8eff443da6834b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7c46579db6472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92df90a907241e6" /><Relationship Type="http://schemas.openxmlformats.org/officeDocument/2006/relationships/slide" Target="/ppt/slides/slide1.xml" Id="R9fe0b4da4c7b47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32f9abe07df43b6" /><Relationship Type="http://schemas.openxmlformats.org/officeDocument/2006/relationships/slide" Target="/ppt/slides/slide2.xml" Id="Ra3d73399a19843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b884f2298764a81" /><Relationship Type="http://schemas.openxmlformats.org/officeDocument/2006/relationships/slide" Target="/ppt/slides/slide3.xml" Id="R058501943d644c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59c3a5c5c574ca9" /><Relationship Type="http://schemas.openxmlformats.org/officeDocument/2006/relationships/slide" Target="/ppt/slides/slide4.xml" Id="R4b1e0fbed1574c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96c9c249e9d43a9" /><Relationship Type="http://schemas.openxmlformats.org/officeDocument/2006/relationships/slide" Target="/ppt/slides/slide5.xml" Id="R7378ecf62d0f4b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029798ad9ae4f40" /><Relationship Type="http://schemas.openxmlformats.org/officeDocument/2006/relationships/slide" Target="/ppt/slides/slide6.xml" Id="Rd66261a143a44b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09fba5e96304172" /><Relationship Type="http://schemas.openxmlformats.org/officeDocument/2006/relationships/slide" Target="/ppt/slides/slide7.xml" Id="Rc72fc8235a044d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6f493d9962f4a8e" /><Relationship Type="http://schemas.openxmlformats.org/officeDocument/2006/relationships/slide" Target="/ppt/slides/slide8.xml" Id="R60828515a75046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9e2fc6beac541bd" /><Relationship Type="http://schemas.openxmlformats.org/officeDocument/2006/relationships/slide" Target="/ppt/slides/slide9.xml" Id="R023ef1745a8c46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2314d615d7b4dd5" /><Relationship Type="http://schemas.openxmlformats.org/officeDocument/2006/relationships/slide" Target="/ppt/slides/slide10.xml" Id="R7e21d2a7777d40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9a6e92074e3432d" /><Relationship Type="http://schemas.openxmlformats.org/officeDocument/2006/relationships/slide" Target="/ppt/slides/slide11.xml" Id="R02ffbec36a254b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58467f36ded4341" /><Relationship Type="http://schemas.openxmlformats.org/officeDocument/2006/relationships/slide" Target="/ppt/slides/slide12.xml" Id="Rf7b9653d4c6940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开场先给结论：我们不是把一个聊天机器人塞进 MR，而是增加一个受控的智能陪练层。它理解学员正在做的步骤，能解释、提示、纠错和复盘；但步骤推进、积分和是否通过，仍然由 TexCore 决定。今天会依次说明用户价值、Agent 边界、M02 试点和验收方式。切换：先看现状。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BPF 已经具备 MR 场景、TexCore 步骤树、完成条件和积分，这些保证了训练的确定性。用户侧的缺口是：遇到不懂的地方只能重看说明，做错之后很难知道错因，训练结束也缺少针对个人的复盘。因此机会不是重做业务流程，而是在现有流程旁边增加一层陪练。切换：把机会翻译成用户目标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从用户角度，升级不是“让 AI 替我操作”，而是四个动作：我能问当前步骤，我能要分级提示，我能知道自己哪里错了，我能在结束后得到下一次练什么的建议。这样 AI 的价值落在学习闭环，而不是替用户完成任务。切换：下面给出 Agent 的工作方式。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Agent 的核心循环很简单：读上下文、判断意图、检索当前步骤知识、返回结构化回答、记录事件。它围绕五种能力工作：当前步骤问答、三级提示、过程观察、训练复盘和弱项推荐。每次回答都带来源和置信度，避免开放式闲聊。切换：看用户在 MR 里实际怎么走。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用户流程保持原来的主路径。进入模块后，助教先说明目标；用户执行时，TexCore 继续判定交互；用户可以主动求助，或在失败后获得提示；模块完成后才生成复盘，并推荐下一练习。注意，AI 是旁路服务，不能把自己的回答写回业务状态。切换：这需要一个清晰的系统分层。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系统分三层：PICO/Unity 负责呈现、输入和采集事件；AI 网关负责会话编排、知识检索和模型适配；知识与事件存储负责步骤知识卡、训练记录和复盘依据。API Key 只放在网关，设备端不保存密钥。没有网络时，Unity 直接使用随包的提示卡继续训练。切换：边界是这个方案能否落地的关键。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左侧是允许调用的只读工具：读取当前上下文、步骤知识、尝试历史，生成提示、复盘和推荐，并追加日志。右侧是明确禁止的写操作：不能设置 stepIndex、加分、完成步骤、切场景、生成物体或修改训练状态。换句话说，Agent 可以解释结果，但不能制造结果。切换：为了让回答可靠，还要定义它看什么资料。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每个 TexCore 步骤对应一张知识卡，包含目标、前置条件、常见错误、三级提示、安全规则和来源。运行时再叠加模块、场景、stepIndex、模式和尝试次数。回答只能基于当前步骤的资料；如果检索不到，就明确说“暂无依据”，并回退到预置提示。切换：同一套能力在训练和考核中要有不同权限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训练模式允许用户主动请求一级到三级提示，也允许解释错误和反复练习。考核模式只保留安全提醒和有限引导，不直接揭示答案；评分和通过仍由 TexCore 给出。这样既能帮助学习，又不会让 AI 破坏考核公平。切换：我们用 M02 做最小闭环。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M02 服务器系统安装适合作为首个试点：步骤边界清楚、常见错误可枚举、离线提示容易预置。用户进入模块后执行安装、配置和验证；每次失败记录错误码、耗时和提示请求；完成后生成三条改进建议。首版先不做视觉识别，优先验证陪练是否真的减少重复错误。切换：这就是 MVP 的范围。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MVP 只交付五项：步骤知识助手、三级提示、事件记录、三条复盘建议和离线回退。四周节奏是：第一周整理知识卡和契约，第二周接 Unity 面板与事件，第三周接在线网关，第四周进行小规模试点。视觉评价、虚拟人和教师大屏都放到后续，避免一次做大。切换：最后用指标和决策收口。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建议今天做三个决策：确定 M02 为首个试点，确定 AI 网关部署在服务端，确定第一版先支持文字、再评估语音。验收看四类指标：不改变 TexCore 状态、回答有来源、离线可用、学员错误复发率下降。若 M02 证明学习效果，再把视觉评价扩展到 M05。谢谢，下面进入试点任务拆解。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9a72b4c1b42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651f3634e4e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269bb91d0742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59eb1d8094b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e03796abc430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9bb5b7879004ca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338a8553e4a4b" /><Relationship Type="http://schemas.openxmlformats.org/officeDocument/2006/relationships/notesSlide" Target="/ppt/notesSlides/notesSlide1.xml" Id="Rea1d5de5786049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c69d8e827491c" /><Relationship Type="http://schemas.openxmlformats.org/officeDocument/2006/relationships/notesSlide" Target="/ppt/notesSlides/notesSlide2.xml" Id="R6f1dfc0ace5547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8104884714c8a" /><Relationship Type="http://schemas.openxmlformats.org/officeDocument/2006/relationships/notesSlide" Target="/ppt/notesSlides/notesSlide3.xml" Id="R2671c6dc6f424e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5e1185195481c" /><Relationship Type="http://schemas.openxmlformats.org/officeDocument/2006/relationships/notesSlide" Target="/ppt/notesSlides/notesSlide4.xml" Id="R6aadc0a1dc994d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5406736d04b57" /><Relationship Type="http://schemas.openxmlformats.org/officeDocument/2006/relationships/notesSlide" Target="/ppt/notesSlides/notesSlide5.xml" Id="R8013d6bd8f1a47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cca49117c4866" /><Relationship Type="http://schemas.openxmlformats.org/officeDocument/2006/relationships/notesSlide" Target="/ppt/notesSlides/notesSlide6.xml" Id="Rc6474325c76b4d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e4badffa045a8" /><Relationship Type="http://schemas.openxmlformats.org/officeDocument/2006/relationships/notesSlide" Target="/ppt/notesSlides/notesSlide7.xml" Id="R9ee823446ee74b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592b8f5524eb7" /><Relationship Type="http://schemas.openxmlformats.org/officeDocument/2006/relationships/notesSlide" Target="/ppt/notesSlides/notesSlide8.xml" Id="R45405aa0282549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cb1f54e51462f" /><Relationship Type="http://schemas.openxmlformats.org/officeDocument/2006/relationships/notesSlide" Target="/ppt/notesSlides/notesSlide9.xml" Id="R5964df4f474a48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8dda6f2de43f6" /><Relationship Type="http://schemas.openxmlformats.org/officeDocument/2006/relationships/notesSlide" Target="/ppt/notesSlides/notesSlide10.xml" Id="R42abf666692c4d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da20ab3e04152" /><Relationship Type="http://schemas.openxmlformats.org/officeDocument/2006/relationships/notesSlide" Target="/ppt/notesSlides/notesSlide11.xml" Id="R2b3b4dbe74054a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4d8c9d2a14e68" /><Relationship Type="http://schemas.openxmlformats.org/officeDocument/2006/relationships/notesSlide" Target="/ppt/notesSlides/notesSlide12.xml" Id="R59dfb363b77a41bc" /></Relationships>
</file>

<file path=ppt/slides/slide1.xml><?xml version="1.0" encoding="utf-8"?>
<p:sld xmlns:p="http://schemas.openxmlformats.org/presentationml/2006/main">
  <p:cSld name="封面"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76000" y="1476000"/>
            <a:ext cx="900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4600" b="1">
                <a:solidFill>
                  <a:srgbClr val="FFFFFF"/>
                </a:solidFill>
                <a:latin typeface="Microsoft YaHei"/>
                <a:ea typeface="Microsoft YaHei"/>
              </a:rPr>
              <a:t>BPF AI助教 Agent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612000" y="2520000"/>
            <a:ext cx="9288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B7D7FF"/>
                </a:solidFill>
                <a:latin typeface="Microsoft YaHei"/>
                <a:ea typeface="Microsoft YaHei"/>
              </a:rPr>
              <a:t>把 MR 实训从“会做”升级为“会问、会练、会复盘”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612000" y="3744000"/>
            <a:ext cx="97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600" b="0">
                <a:solidFill>
                  <a:srgbClr val="7EA6D8"/>
                </a:solidFill>
                <a:latin typeface="Microsoft YaHei"/>
                <a:ea typeface="Microsoft YaHei"/>
              </a:rPr>
              <a:t>产品方案｜面向技术团队｜首个试点：M02 服务器系统安装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612000" y="4716000"/>
            <a:ext cx="1008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E7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FFFFFF"/>
                </a:solidFill>
                <a:latin typeface="Microsoft YaHei"/>
                <a:ea typeface="Microsoft YaHei"/>
              </a:rPr>
              <a:t>核心结论：AI 做解释与陪练，TexCore 继续做事实与结果。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9504000" y="5832000"/>
            <a:ext cx="21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300" b="0">
                <a:solidFill>
                  <a:srgbClr val="7EA6D8"/>
                </a:solidFill>
                <a:latin typeface="Microsoft YaHei"/>
                <a:ea typeface="Microsoft YaHei"/>
              </a:rPr>
              <a:t>AI 赋能 BPF MR 实训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为什么需要 AI 助教"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/>
          <p:nvPr/>
        </p:nvSpPr>
        <p:spPr>
          <a:xfrm xmlns:a="http://schemas.openxmlformats.org/drawingml/2006/main">
            <a:off x="486000" y="234000"/>
            <a:ext cx="882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为什么需要 AI 助教</a:t>
            </a:r>
          </a:p>
        </p:txBody>
      </p:sp>
      <p:sp>
        <p:nvSpPr>
          <p:cNvPr id="100006" name="TextBox 2"/>
          <p:cNvSpPr/>
          <p:nvPr/>
        </p:nvSpPr>
        <p:spPr>
          <a:xfrm xmlns:a="http://schemas.openxmlformats.org/drawingml/2006/main">
            <a:off x="9792000" y="295200"/>
            <a:ext cx="18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100" b="0">
                <a:solidFill>
                  <a:srgbClr val="7EA6D8"/>
                </a:solidFill>
                <a:latin typeface="Microsoft YaHei"/>
                <a:ea typeface="Microsoft YaHei"/>
              </a:rPr>
              <a:t>02  /  BPF AI助教 Agent</a:t>
            </a:r>
          </a:p>
        </p:txBody>
      </p:sp>
      <p:sp>
        <p:nvSpPr>
          <p:cNvPr id="100007" name="TextBox 3"/>
          <p:cNvSpPr/>
          <p:nvPr/>
        </p:nvSpPr>
        <p:spPr>
          <a:xfrm xmlns:a="http://schemas.openxmlformats.org/drawingml/2006/main">
            <a:off x="486000" y="810000"/>
            <a:ext cx="11214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C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08" name="TextBox 4"/>
          <p:cNvSpPr/>
          <p:nvPr/>
        </p:nvSpPr>
        <p:spPr>
          <a:xfrm xmlns:a="http://schemas.openxmlformats.org/drawingml/2006/main">
            <a:off x="576000" y="1134000"/>
            <a:ext cx="331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700" b="1">
                <a:solidFill>
                  <a:srgbClr val="7EA6D8"/>
                </a:solidFill>
                <a:latin typeface="Microsoft YaHei"/>
                <a:ea typeface="Microsoft YaHei"/>
              </a:rPr>
              <a:t>已有确定性能力</a:t>
            </a:r>
          </a:p>
        </p:txBody>
      </p:sp>
      <p:sp>
        <p:nvSpPr>
          <p:cNvPr id="100009" name="TextBox 5"/>
          <p:cNvSpPr/>
          <p:nvPr/>
        </p:nvSpPr>
        <p:spPr>
          <a:xfrm xmlns:a="http://schemas.openxmlformats.org/drawingml/2006/main">
            <a:off x="576000" y="1530000"/>
            <a:ext cx="33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MR 场景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TexCore 步骤树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完成条件与积分</a:t>
            </a:r>
          </a:p>
        </p:txBody>
      </p:sp>
      <p:sp>
        <p:nvSpPr>
          <p:cNvPr id="100010" name="TextBox 6"/>
          <p:cNvSpPr/>
          <p:nvPr/>
        </p:nvSpPr>
        <p:spPr>
          <a:xfrm xmlns:a="http://schemas.openxmlformats.org/drawingml/2006/main">
            <a:off x="4320000" y="1134000"/>
            <a:ext cx="331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700" b="1">
                <a:solidFill>
                  <a:srgbClr val="7EA6D8"/>
                </a:solidFill>
                <a:latin typeface="Microsoft YaHei"/>
                <a:ea typeface="Microsoft YaHei"/>
              </a:rPr>
              <a:t>用户侧缺口</a:t>
            </a:r>
          </a:p>
        </p:txBody>
      </p:sp>
      <p:sp>
        <p:nvSpPr>
          <p:cNvPr id="100011" name="TextBox 7"/>
          <p:cNvSpPr/>
          <p:nvPr/>
        </p:nvSpPr>
        <p:spPr>
          <a:xfrm xmlns:a="http://schemas.openxmlformats.org/drawingml/2006/main">
            <a:off x="4320000" y="1530000"/>
            <a:ext cx="33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不会问：只能重看说明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不会练：错误原因不清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不会复盘：下一步不明确</a:t>
            </a:r>
          </a:p>
        </p:txBody>
      </p:sp>
      <p:sp>
        <p:nvSpPr>
          <p:cNvPr id="100012" name="TextBox 8"/>
          <p:cNvSpPr/>
          <p:nvPr/>
        </p:nvSpPr>
        <p:spPr>
          <a:xfrm xmlns:a="http://schemas.openxmlformats.org/drawingml/2006/main">
            <a:off x="8064000" y="1134000"/>
            <a:ext cx="331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700" b="1">
                <a:solidFill>
                  <a:srgbClr val="7EA6D8"/>
                </a:solidFill>
                <a:latin typeface="Microsoft YaHei"/>
                <a:ea typeface="Microsoft YaHei"/>
              </a:rPr>
              <a:t>AI 机会</a:t>
            </a:r>
          </a:p>
        </p:txBody>
      </p:sp>
      <p:sp>
        <p:nvSpPr>
          <p:cNvPr id="100013" name="TextBox 9"/>
          <p:cNvSpPr/>
          <p:nvPr/>
        </p:nvSpPr>
        <p:spPr>
          <a:xfrm xmlns:a="http://schemas.openxmlformats.org/drawingml/2006/main">
            <a:off x="8064000" y="1530000"/>
            <a:ext cx="33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解释当前步骤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分级提示与纠错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复盘与个性化推荐</a:t>
            </a:r>
          </a:p>
        </p:txBody>
      </p:sp>
      <p:sp>
        <p:nvSpPr>
          <p:cNvPr id="100014" name="TextBox 10"/>
          <p:cNvSpPr/>
          <p:nvPr/>
        </p:nvSpPr>
        <p:spPr>
          <a:xfrm xmlns:a="http://schemas.openxmlformats.org/drawingml/2006/main">
            <a:off x="1800000" y="4068000"/>
            <a:ext cx="8496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E7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300" b="1">
                <a:solidFill>
                  <a:srgbClr val="FFFFFF"/>
                </a:solidFill>
                <a:latin typeface="Microsoft YaHei"/>
                <a:ea typeface="Microsoft YaHei"/>
              </a:rPr>
              <a:t>结论：在现有业务流程旁边增加“陪练层”，不重做 TexCore。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产品定义：一个受控的陪练 Agent"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/>
      <p:sp>
        <p:nvSpPr>
          <p:cNvPr id="100015" name="TextBox 1"/>
          <p:cNvSpPr/>
          <p:nvPr/>
        </p:nvSpPr>
        <p:spPr>
          <a:xfrm xmlns:a="http://schemas.openxmlformats.org/drawingml/2006/main">
            <a:off x="486000" y="234000"/>
            <a:ext cx="882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产品定义：一个受控的陪练 Agent</a:t>
            </a:r>
          </a:p>
        </p:txBody>
      </p:sp>
      <p:sp>
        <p:nvSpPr>
          <p:cNvPr id="100016" name="TextBox 2"/>
          <p:cNvSpPr/>
          <p:nvPr/>
        </p:nvSpPr>
        <p:spPr>
          <a:xfrm xmlns:a="http://schemas.openxmlformats.org/drawingml/2006/main">
            <a:off x="9792000" y="295200"/>
            <a:ext cx="18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100" b="0">
                <a:solidFill>
                  <a:srgbClr val="7EA6D8"/>
                </a:solidFill>
                <a:latin typeface="Microsoft YaHei"/>
                <a:ea typeface="Microsoft YaHei"/>
              </a:rPr>
              <a:t>03  /  BPF AI助教 Agent</a:t>
            </a:r>
          </a:p>
        </p:txBody>
      </p:sp>
      <p:sp>
        <p:nvSpPr>
          <p:cNvPr id="100017" name="TextBox 3"/>
          <p:cNvSpPr/>
          <p:nvPr/>
        </p:nvSpPr>
        <p:spPr>
          <a:xfrm xmlns:a="http://schemas.openxmlformats.org/drawingml/2006/main">
            <a:off x="486000" y="810000"/>
            <a:ext cx="11214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C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18" name="TextBox 4"/>
          <p:cNvSpPr/>
          <p:nvPr/>
        </p:nvSpPr>
        <p:spPr>
          <a:xfrm xmlns:a="http://schemas.openxmlformats.org/drawingml/2006/main">
            <a:off x="576000" y="1440000"/>
            <a:ext cx="1908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学员输入 / 训练事件</a:t>
            </a:r>
          </a:p>
        </p:txBody>
      </p:sp>
      <p:sp>
        <p:nvSpPr>
          <p:cNvPr id="100019" name="TextBox 5"/>
          <p:cNvSpPr/>
          <p:nvPr/>
        </p:nvSpPr>
        <p:spPr>
          <a:xfrm xmlns:a="http://schemas.openxmlformats.org/drawingml/2006/main">
            <a:off x="2916000" y="1440000"/>
            <a:ext cx="162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读取上下文</a:t>
            </a:r>
          </a:p>
        </p:txBody>
      </p:sp>
      <p:sp>
        <p:nvSpPr>
          <p:cNvPr id="100020" name="TextBox 6"/>
          <p:cNvSpPr/>
          <p:nvPr/>
        </p:nvSpPr>
        <p:spPr>
          <a:xfrm xmlns:a="http://schemas.openxmlformats.org/drawingml/2006/main">
            <a:off x="5004000" y="1440000"/>
            <a:ext cx="18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检索步骤知识</a:t>
            </a:r>
          </a:p>
        </p:txBody>
      </p:sp>
      <p:sp>
        <p:nvSpPr>
          <p:cNvPr id="100021" name="TextBox 7"/>
          <p:cNvSpPr/>
          <p:nvPr/>
        </p:nvSpPr>
        <p:spPr>
          <a:xfrm xmlns:a="http://schemas.openxmlformats.org/drawingml/2006/main">
            <a:off x="7272000" y="1440000"/>
            <a:ext cx="1872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生成提示 / 复盘</a:t>
            </a:r>
          </a:p>
        </p:txBody>
      </p:sp>
      <p:sp>
        <p:nvSpPr>
          <p:cNvPr id="100022" name="TextBox 8"/>
          <p:cNvSpPr/>
          <p:nvPr/>
        </p:nvSpPr>
        <p:spPr>
          <a:xfrm xmlns:a="http://schemas.openxmlformats.org/drawingml/2006/main">
            <a:off x="9648000" y="1440000"/>
            <a:ext cx="1728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记录并推荐</a:t>
            </a:r>
          </a:p>
        </p:txBody>
      </p:sp>
      <p:sp>
        <p:nvSpPr>
          <p:cNvPr id="100023" name="TextBox 9"/>
          <p:cNvSpPr/>
          <p:nvPr/>
        </p:nvSpPr>
        <p:spPr>
          <a:xfrm xmlns:a="http://schemas.openxmlformats.org/drawingml/2006/main">
            <a:off x="2556000" y="1566000"/>
            <a:ext cx="234000" cy="25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A3D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24" name="TextBox 10"/>
          <p:cNvSpPr/>
          <p:nvPr/>
        </p:nvSpPr>
        <p:spPr>
          <a:xfrm xmlns:a="http://schemas.openxmlformats.org/drawingml/2006/main">
            <a:off x="4572000" y="1566000"/>
            <a:ext cx="234000" cy="25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A3D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25" name="TextBox 11"/>
          <p:cNvSpPr/>
          <p:nvPr/>
        </p:nvSpPr>
        <p:spPr>
          <a:xfrm xmlns:a="http://schemas.openxmlformats.org/drawingml/2006/main">
            <a:off x="6840000" y="1566000"/>
            <a:ext cx="234000" cy="25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A3D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26" name="TextBox 12"/>
          <p:cNvSpPr/>
          <p:nvPr/>
        </p:nvSpPr>
        <p:spPr>
          <a:xfrm xmlns:a="http://schemas.openxmlformats.org/drawingml/2006/main">
            <a:off x="9252000" y="1566000"/>
            <a:ext cx="234000" cy="25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A3D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27" name="TextBox 13"/>
          <p:cNvSpPr/>
          <p:nvPr/>
        </p:nvSpPr>
        <p:spPr>
          <a:xfrm xmlns:a="http://schemas.openxmlformats.org/drawingml/2006/main">
            <a:off x="576000" y="2952000"/>
            <a:ext cx="1656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700" b="1">
                <a:solidFill>
                  <a:srgbClr val="7EA6D8"/>
                </a:solidFill>
                <a:latin typeface="Microsoft YaHei"/>
                <a:ea typeface="Microsoft YaHei"/>
              </a:rPr>
              <a:t>五种能力</a:t>
            </a:r>
          </a:p>
        </p:txBody>
      </p:sp>
      <p:sp>
        <p:nvSpPr>
          <p:cNvPr id="100028" name="TextBox 14"/>
          <p:cNvSpPr/>
          <p:nvPr/>
        </p:nvSpPr>
        <p:spPr>
          <a:xfrm xmlns:a="http://schemas.openxmlformats.org/drawingml/2006/main">
            <a:off x="576000" y="3294000"/>
            <a:ext cx="1008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300" b="1">
                <a:solidFill>
                  <a:srgbClr val="FFFFFF"/>
                </a:solidFill>
                <a:latin typeface="Microsoft YaHei"/>
                <a:ea typeface="Microsoft YaHei"/>
              </a:rPr>
              <a:t>当前步骤问答  ·  三级提示  ·  过程观察</a:t>
            </a:r>
          </a:p>
          <a:p xmlns:a="http://schemas.openxmlformats.org/drawingml/2006/main">
            <a:pPr algn="ctr"/>
            <a:r>
              <a:rPr lang="en-US" sz="2300" b="1">
                <a:solidFill>
                  <a:srgbClr val="FFFFFF"/>
                </a:solidFill>
                <a:latin typeface="Microsoft YaHei"/>
                <a:ea typeface="Microsoft YaHei"/>
              </a:rPr>
              <a:t>训练复盘  ·  弱项推荐</a:t>
            </a:r>
          </a:p>
        </p:txBody>
      </p:sp>
      <p:sp>
        <p:nvSpPr>
          <p:cNvPr id="100029" name="TextBox 15"/>
          <p:cNvSpPr/>
          <p:nvPr/>
        </p:nvSpPr>
        <p:spPr>
          <a:xfrm xmlns:a="http://schemas.openxmlformats.org/drawingml/2006/main">
            <a:off x="2160000" y="4752000"/>
            <a:ext cx="792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B7D7FF"/>
                </a:solidFill>
                <a:latin typeface="Microsoft YaHei"/>
                <a:ea typeface="Microsoft YaHei"/>
              </a:rPr>
              <a:t>每次回答带来源与置信度；不开放式猜测。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用户流程：在每个关键节点获得帮助"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/>
      <p:sp>
        <p:nvSpPr>
          <p:cNvPr id="100030" name="TextBox 1"/>
          <p:cNvSpPr/>
          <p:nvPr/>
        </p:nvSpPr>
        <p:spPr>
          <a:xfrm xmlns:a="http://schemas.openxmlformats.org/drawingml/2006/main">
            <a:off x="486000" y="234000"/>
            <a:ext cx="882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用户流程：在每个关键节点获得帮助</a:t>
            </a:r>
          </a:p>
        </p:txBody>
      </p:sp>
      <p:sp>
        <p:nvSpPr>
          <p:cNvPr id="100031" name="TextBox 2"/>
          <p:cNvSpPr/>
          <p:nvPr/>
        </p:nvSpPr>
        <p:spPr>
          <a:xfrm xmlns:a="http://schemas.openxmlformats.org/drawingml/2006/main">
            <a:off x="9792000" y="295200"/>
            <a:ext cx="18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100" b="0">
                <a:solidFill>
                  <a:srgbClr val="7EA6D8"/>
                </a:solidFill>
                <a:latin typeface="Microsoft YaHei"/>
                <a:ea typeface="Microsoft YaHei"/>
              </a:rPr>
              <a:t>04  /  BPF AI助教 Agent</a:t>
            </a:r>
          </a:p>
        </p:txBody>
      </p:sp>
      <p:sp>
        <p:nvSpPr>
          <p:cNvPr id="100032" name="TextBox 3"/>
          <p:cNvSpPr/>
          <p:nvPr/>
        </p:nvSpPr>
        <p:spPr>
          <a:xfrm xmlns:a="http://schemas.openxmlformats.org/drawingml/2006/main">
            <a:off x="486000" y="810000"/>
            <a:ext cx="11214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C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33" name="TextBox 4"/>
          <p:cNvSpPr/>
          <p:nvPr/>
        </p:nvSpPr>
        <p:spPr>
          <a:xfrm xmlns:a="http://schemas.openxmlformats.org/drawingml/2006/main">
            <a:off x="504000" y="2160000"/>
            <a:ext cx="1512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进入模块</a:t>
            </a:r>
          </a:p>
        </p:txBody>
      </p:sp>
      <p:sp>
        <p:nvSpPr>
          <p:cNvPr id="100034" name="TextBox 5"/>
          <p:cNvSpPr/>
          <p:nvPr/>
        </p:nvSpPr>
        <p:spPr>
          <a:xfrm xmlns:a="http://schemas.openxmlformats.org/drawingml/2006/main">
            <a:off x="2124000" y="2296800"/>
            <a:ext cx="198000" cy="25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A3D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35" name="TextBox 6"/>
          <p:cNvSpPr/>
          <p:nvPr/>
        </p:nvSpPr>
        <p:spPr>
          <a:xfrm xmlns:a="http://schemas.openxmlformats.org/drawingml/2006/main">
            <a:off x="2376000" y="2160000"/>
            <a:ext cx="1512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执行当前步骤</a:t>
            </a:r>
          </a:p>
        </p:txBody>
      </p:sp>
      <p:sp>
        <p:nvSpPr>
          <p:cNvPr id="100036" name="TextBox 7"/>
          <p:cNvSpPr/>
          <p:nvPr/>
        </p:nvSpPr>
        <p:spPr>
          <a:xfrm xmlns:a="http://schemas.openxmlformats.org/drawingml/2006/main">
            <a:off x="3996000" y="2296800"/>
            <a:ext cx="198000" cy="25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A3D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37" name="TextBox 8"/>
          <p:cNvSpPr/>
          <p:nvPr/>
        </p:nvSpPr>
        <p:spPr>
          <a:xfrm xmlns:a="http://schemas.openxmlformats.org/drawingml/2006/main">
            <a:off x="4248000" y="2160000"/>
            <a:ext cx="1512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求助 / 纠错</a:t>
            </a:r>
          </a:p>
        </p:txBody>
      </p:sp>
      <p:sp>
        <p:nvSpPr>
          <p:cNvPr id="100038" name="TextBox 9"/>
          <p:cNvSpPr/>
          <p:nvPr/>
        </p:nvSpPr>
        <p:spPr>
          <a:xfrm xmlns:a="http://schemas.openxmlformats.org/drawingml/2006/main">
            <a:off x="5868000" y="2296800"/>
            <a:ext cx="198000" cy="25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A3D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39" name="TextBox 10"/>
          <p:cNvSpPr/>
          <p:nvPr/>
        </p:nvSpPr>
        <p:spPr>
          <a:xfrm xmlns:a="http://schemas.openxmlformats.org/drawingml/2006/main">
            <a:off x="6120000" y="2160000"/>
            <a:ext cx="1512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TexCore 完成</a:t>
            </a:r>
          </a:p>
        </p:txBody>
      </p:sp>
      <p:sp>
        <p:nvSpPr>
          <p:cNvPr id="100040" name="TextBox 11"/>
          <p:cNvSpPr/>
          <p:nvPr/>
        </p:nvSpPr>
        <p:spPr>
          <a:xfrm xmlns:a="http://schemas.openxmlformats.org/drawingml/2006/main">
            <a:off x="7740000" y="2296800"/>
            <a:ext cx="198000" cy="25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A3D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41" name="TextBox 12"/>
          <p:cNvSpPr/>
          <p:nvPr/>
        </p:nvSpPr>
        <p:spPr>
          <a:xfrm xmlns:a="http://schemas.openxmlformats.org/drawingml/2006/main">
            <a:off x="7992000" y="2160000"/>
            <a:ext cx="1512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AI 复盘</a:t>
            </a:r>
          </a:p>
        </p:txBody>
      </p:sp>
      <p:sp>
        <p:nvSpPr>
          <p:cNvPr id="100042" name="TextBox 13"/>
          <p:cNvSpPr/>
          <p:nvPr/>
        </p:nvSpPr>
        <p:spPr>
          <a:xfrm xmlns:a="http://schemas.openxmlformats.org/drawingml/2006/main">
            <a:off x="9612000" y="2296800"/>
            <a:ext cx="198000" cy="25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A3D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43" name="TextBox 14"/>
          <p:cNvSpPr/>
          <p:nvPr/>
        </p:nvSpPr>
        <p:spPr>
          <a:xfrm xmlns:a="http://schemas.openxmlformats.org/drawingml/2006/main">
            <a:off x="9864000" y="2160000"/>
            <a:ext cx="1512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推荐下一练习</a:t>
            </a:r>
          </a:p>
        </p:txBody>
      </p:sp>
      <p:sp>
        <p:nvSpPr>
          <p:cNvPr id="100044" name="TextBox 15"/>
          <p:cNvSpPr/>
          <p:nvPr/>
        </p:nvSpPr>
        <p:spPr>
          <a:xfrm xmlns:a="http://schemas.openxmlformats.org/drawingml/2006/main">
            <a:off x="1476000" y="3708000"/>
            <a:ext cx="918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助教在旁路提供：目标说明、提示、错误解释、完成后的复盘。</a:t>
            </a:r>
          </a:p>
        </p:txBody>
      </p:sp>
      <p:sp>
        <p:nvSpPr>
          <p:cNvPr id="100045" name="TextBox 16"/>
          <p:cNvSpPr/>
          <p:nvPr/>
        </p:nvSpPr>
        <p:spPr>
          <a:xfrm xmlns:a="http://schemas.openxmlformats.org/drawingml/2006/main">
            <a:off x="1476000" y="4716000"/>
            <a:ext cx="91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E7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业务主路径不变：步骤、积分、门禁仍由 TexCore 控制。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系统架构：AI 是旁路增强层"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/>
      <p:sp>
        <p:nvSpPr>
          <p:cNvPr id="100046" name="TextBox 1"/>
          <p:cNvSpPr/>
          <p:nvPr/>
        </p:nvSpPr>
        <p:spPr>
          <a:xfrm xmlns:a="http://schemas.openxmlformats.org/drawingml/2006/main">
            <a:off x="486000" y="234000"/>
            <a:ext cx="882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系统架构：AI 是旁路增强层</a:t>
            </a:r>
          </a:p>
        </p:txBody>
      </p:sp>
      <p:sp>
        <p:nvSpPr>
          <p:cNvPr id="100047" name="TextBox 2"/>
          <p:cNvSpPr/>
          <p:nvPr/>
        </p:nvSpPr>
        <p:spPr>
          <a:xfrm xmlns:a="http://schemas.openxmlformats.org/drawingml/2006/main">
            <a:off x="9792000" y="295200"/>
            <a:ext cx="18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100" b="0">
                <a:solidFill>
                  <a:srgbClr val="7EA6D8"/>
                </a:solidFill>
                <a:latin typeface="Microsoft YaHei"/>
                <a:ea typeface="Microsoft YaHei"/>
              </a:rPr>
              <a:t>05  /  BPF AI助教 Agent</a:t>
            </a:r>
          </a:p>
        </p:txBody>
      </p:sp>
      <p:sp>
        <p:nvSpPr>
          <p:cNvPr id="100048" name="TextBox 3"/>
          <p:cNvSpPr/>
          <p:nvPr/>
        </p:nvSpPr>
        <p:spPr>
          <a:xfrm xmlns:a="http://schemas.openxmlformats.org/drawingml/2006/main">
            <a:off x="486000" y="810000"/>
            <a:ext cx="11214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C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49" name="TextBox 4"/>
          <p:cNvSpPr/>
          <p:nvPr/>
        </p:nvSpPr>
        <p:spPr>
          <a:xfrm xmlns:a="http://schemas.openxmlformats.org/drawingml/2006/main">
            <a:off x="576000" y="1476000"/>
            <a:ext cx="295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PICO / Unity</a:t>
            </a:r>
          </a:p>
        </p:txBody>
      </p:sp>
      <p:sp>
        <p:nvSpPr>
          <p:cNvPr id="100050" name="TextBox 5"/>
          <p:cNvSpPr/>
          <p:nvPr/>
        </p:nvSpPr>
        <p:spPr>
          <a:xfrm xmlns:a="http://schemas.openxmlformats.org/drawingml/2006/main">
            <a:off x="576000" y="1980000"/>
            <a:ext cx="2952000" cy="1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助教面板</a:t>
            </a:r>
          </a:p>
          <a:p xmlns:a="http://schemas.openxmlformats.org/drawingml/2006/main">
            <a:pPr algn="l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语音 / 文字输入</a:t>
            </a:r>
          </a:p>
          <a:p xmlns:a="http://schemas.openxmlformats.org/drawingml/2006/main">
            <a:pPr algn="l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TexCore 只读上下文</a:t>
            </a:r>
          </a:p>
          <a:p xmlns:a="http://schemas.openxmlformats.org/drawingml/2006/main">
            <a:pPr algn="l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训练事件采集</a:t>
            </a:r>
          </a:p>
        </p:txBody>
      </p:sp>
      <p:sp>
        <p:nvSpPr>
          <p:cNvPr id="100051" name="TextBox 6"/>
          <p:cNvSpPr/>
          <p:nvPr/>
        </p:nvSpPr>
        <p:spPr>
          <a:xfrm xmlns:a="http://schemas.openxmlformats.org/drawingml/2006/main">
            <a:off x="4500000" y="1476000"/>
            <a:ext cx="3168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AI 助教网关</a:t>
            </a:r>
          </a:p>
        </p:txBody>
      </p:sp>
      <p:sp>
        <p:nvSpPr>
          <p:cNvPr id="100052" name="TextBox 7"/>
          <p:cNvSpPr/>
          <p:nvPr/>
        </p:nvSpPr>
        <p:spPr>
          <a:xfrm xmlns:a="http://schemas.openxmlformats.org/drawingml/2006/main">
            <a:off x="4500000" y="1980000"/>
            <a:ext cx="3168000" cy="1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会话编排 Agent</a:t>
            </a:r>
          </a:p>
          <a:p xmlns:a="http://schemas.openxmlformats.org/drawingml/2006/main">
            <a:pPr algn="l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安全策略引擎</a:t>
            </a:r>
          </a:p>
          <a:p xmlns:a="http://schemas.openxmlformats.org/drawingml/2006/main">
            <a:pPr algn="l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知识检索器</a:t>
            </a:r>
          </a:p>
          <a:p xmlns:a="http://schemas.openxmlformats.org/drawingml/2006/main">
            <a:pPr algn="l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LLM 适配器</a:t>
            </a:r>
          </a:p>
        </p:txBody>
      </p:sp>
      <p:sp>
        <p:nvSpPr>
          <p:cNvPr id="100053" name="TextBox 8"/>
          <p:cNvSpPr/>
          <p:nvPr/>
        </p:nvSpPr>
        <p:spPr>
          <a:xfrm xmlns:a="http://schemas.openxmlformats.org/drawingml/2006/main">
            <a:off x="8640000" y="1476000"/>
            <a:ext cx="288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知识与事件存储</a:t>
            </a:r>
          </a:p>
        </p:txBody>
      </p:sp>
      <p:sp>
        <p:nvSpPr>
          <p:cNvPr id="100054" name="TextBox 9"/>
          <p:cNvSpPr/>
          <p:nvPr/>
        </p:nvSpPr>
        <p:spPr>
          <a:xfrm xmlns:a="http://schemas.openxmlformats.org/drawingml/2006/main">
            <a:off x="8640000" y="1980000"/>
            <a:ext cx="2880000" cy="1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步骤知识卡</a:t>
            </a:r>
          </a:p>
          <a:p xmlns:a="http://schemas.openxmlformats.org/drawingml/2006/main">
            <a:pPr algn="l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训练事件</a:t>
            </a:r>
          </a:p>
          <a:p xmlns:a="http://schemas.openxmlformats.org/drawingml/2006/main">
            <a:pPr algn="l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复盘与推荐依据</a:t>
            </a:r>
          </a:p>
        </p:txBody>
      </p:sp>
      <p:sp>
        <p:nvSpPr>
          <p:cNvPr id="100055" name="TextBox 10"/>
          <p:cNvSpPr/>
          <p:nvPr/>
        </p:nvSpPr>
        <p:spPr>
          <a:xfrm xmlns:a="http://schemas.openxmlformats.org/drawingml/2006/main">
            <a:off x="3636000" y="2484000"/>
            <a:ext cx="576000" cy="27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A3D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56" name="TextBox 11"/>
          <p:cNvSpPr/>
          <p:nvPr/>
        </p:nvSpPr>
        <p:spPr>
          <a:xfrm xmlns:a="http://schemas.openxmlformats.org/drawingml/2006/main">
            <a:off x="7740000" y="2484000"/>
            <a:ext cx="576000" cy="27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A3D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57" name="TextBox 12"/>
          <p:cNvSpPr/>
          <p:nvPr/>
        </p:nvSpPr>
        <p:spPr>
          <a:xfrm xmlns:a="http://schemas.openxmlformats.org/drawingml/2006/main">
            <a:off x="2916000" y="4392000"/>
            <a:ext cx="6372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E7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Microsoft YaHei"/>
                <a:ea typeface="Microsoft YaHei"/>
              </a:rPr>
              <a:t>在线增强：服务端调用模型</a:t>
            </a:r>
          </a:p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Microsoft YaHei"/>
                <a:ea typeface="Microsoft YaHei"/>
              </a:rPr>
              <a:t>离线可用：APK 内置提示卡回退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权限边界：能解释，不能改结果"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/>
          <p:nvPr/>
        </p:nvSpPr>
        <p:spPr>
          <a:xfrm xmlns:a="http://schemas.openxmlformats.org/drawingml/2006/main">
            <a:off x="486000" y="234000"/>
            <a:ext cx="882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权限边界：能解释，不能改结果</a:t>
            </a:r>
          </a:p>
        </p:txBody>
      </p:sp>
      <p:sp>
        <p:nvSpPr>
          <p:cNvPr id="100059" name="TextBox 2"/>
          <p:cNvSpPr/>
          <p:nvPr/>
        </p:nvSpPr>
        <p:spPr>
          <a:xfrm xmlns:a="http://schemas.openxmlformats.org/drawingml/2006/main">
            <a:off x="9792000" y="295200"/>
            <a:ext cx="18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100" b="0">
                <a:solidFill>
                  <a:srgbClr val="7EA6D8"/>
                </a:solidFill>
                <a:latin typeface="Microsoft YaHei"/>
                <a:ea typeface="Microsoft YaHei"/>
              </a:rPr>
              <a:t>06  /  BPF AI助教 Agent</a:t>
            </a:r>
          </a:p>
        </p:txBody>
      </p:sp>
      <p:sp>
        <p:nvSpPr>
          <p:cNvPr id="100060" name="TextBox 3"/>
          <p:cNvSpPr/>
          <p:nvPr/>
        </p:nvSpPr>
        <p:spPr>
          <a:xfrm xmlns:a="http://schemas.openxmlformats.org/drawingml/2006/main">
            <a:off x="486000" y="810000"/>
            <a:ext cx="11214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C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61" name="TextBox 4"/>
          <p:cNvSpPr/>
          <p:nvPr/>
        </p:nvSpPr>
        <p:spPr>
          <a:xfrm xmlns:a="http://schemas.openxmlformats.org/drawingml/2006/main">
            <a:off x="576000" y="1224000"/>
            <a:ext cx="522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7EA6D8"/>
                </a:solidFill>
                <a:latin typeface="Microsoft YaHei"/>
                <a:ea typeface="Microsoft YaHei"/>
              </a:rPr>
              <a:t>Agent 允许调用（只读 / 追加）</a:t>
            </a:r>
          </a:p>
        </p:txBody>
      </p:sp>
      <p:sp>
        <p:nvSpPr>
          <p:cNvPr id="100062" name="TextBox 5"/>
          <p:cNvSpPr/>
          <p:nvPr/>
        </p:nvSpPr>
        <p:spPr>
          <a:xfrm xmlns:a="http://schemas.openxmlformats.org/drawingml/2006/main">
            <a:off x="576000" y="1836000"/>
            <a:ext cx="5220000" cy="2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GetCurrentContext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GetStepKnowledge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GetAttemptHistory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GiveHint / GenerateReview / RecommendPractice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LogAssistantEvent</a:t>
            </a:r>
          </a:p>
        </p:txBody>
      </p:sp>
      <p:sp>
        <p:nvSpPr>
          <p:cNvPr id="100063" name="TextBox 6"/>
          <p:cNvSpPr/>
          <p:nvPr/>
        </p:nvSpPr>
        <p:spPr>
          <a:xfrm xmlns:a="http://schemas.openxmlformats.org/drawingml/2006/main">
            <a:off x="6408000" y="1224000"/>
            <a:ext cx="522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FB3B3"/>
                </a:solidFill>
                <a:latin typeface="Microsoft YaHei"/>
                <a:ea typeface="Microsoft YaHei"/>
              </a:rPr>
              <a:t>明确禁止（写业务状态）</a:t>
            </a:r>
          </a:p>
        </p:txBody>
      </p:sp>
      <p:sp>
        <p:nvSpPr>
          <p:cNvPr id="100064" name="TextBox 7"/>
          <p:cNvSpPr/>
          <p:nvPr/>
        </p:nvSpPr>
        <p:spPr>
          <a:xfrm xmlns:a="http://schemas.openxmlformats.org/drawingml/2006/main">
            <a:off x="6408000" y="1836000"/>
            <a:ext cx="5220000" cy="2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6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SetStepIndex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AddScore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CompleteStep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ChangeScene / SpawnObject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ModifyTrainingState</a:t>
            </a:r>
          </a:p>
        </p:txBody>
      </p:sp>
      <p:sp>
        <p:nvSpPr>
          <p:cNvPr id="100065" name="TextBox 8"/>
          <p:cNvSpPr/>
          <p:nvPr/>
        </p:nvSpPr>
        <p:spPr>
          <a:xfrm xmlns:a="http://schemas.openxmlformats.org/drawingml/2006/main">
            <a:off x="1512000" y="4752000"/>
            <a:ext cx="9108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E7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Microsoft YaHei"/>
                <a:ea typeface="Microsoft YaHei"/>
              </a:rPr>
              <a:t>TexCore 是权威源：stepIndex、积分、完成门禁、考核结果。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知识与上下文：让回答有依据"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/>
      <p:sp>
        <p:nvSpPr>
          <p:cNvPr id="100066" name="TextBox 1"/>
          <p:cNvSpPr/>
          <p:nvPr/>
        </p:nvSpPr>
        <p:spPr>
          <a:xfrm xmlns:a="http://schemas.openxmlformats.org/drawingml/2006/main">
            <a:off x="486000" y="234000"/>
            <a:ext cx="882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知识与上下文：让回答有依据</a:t>
            </a:r>
          </a:p>
        </p:txBody>
      </p:sp>
      <p:sp>
        <p:nvSpPr>
          <p:cNvPr id="100067" name="TextBox 2"/>
          <p:cNvSpPr/>
          <p:nvPr/>
        </p:nvSpPr>
        <p:spPr>
          <a:xfrm xmlns:a="http://schemas.openxmlformats.org/drawingml/2006/main">
            <a:off x="9792000" y="295200"/>
            <a:ext cx="18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100" b="0">
                <a:solidFill>
                  <a:srgbClr val="7EA6D8"/>
                </a:solidFill>
                <a:latin typeface="Microsoft YaHei"/>
                <a:ea typeface="Microsoft YaHei"/>
              </a:rPr>
              <a:t>07  /  BPF AI助教 Agent</a:t>
            </a:r>
          </a:p>
        </p:txBody>
      </p:sp>
      <p:sp>
        <p:nvSpPr>
          <p:cNvPr id="100068" name="TextBox 3"/>
          <p:cNvSpPr/>
          <p:nvPr/>
        </p:nvSpPr>
        <p:spPr>
          <a:xfrm xmlns:a="http://schemas.openxmlformats.org/drawingml/2006/main">
            <a:off x="486000" y="810000"/>
            <a:ext cx="11214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C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69" name="TextBox 4"/>
          <p:cNvSpPr/>
          <p:nvPr/>
        </p:nvSpPr>
        <p:spPr>
          <a:xfrm xmlns:a="http://schemas.openxmlformats.org/drawingml/2006/main">
            <a:off x="576000" y="1224000"/>
            <a:ext cx="32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7EA6D8"/>
                </a:solidFill>
                <a:latin typeface="Microsoft YaHei"/>
                <a:ea typeface="Microsoft YaHei"/>
              </a:rPr>
              <a:t>步骤知识卡</a:t>
            </a:r>
          </a:p>
        </p:txBody>
      </p:sp>
      <p:sp>
        <p:nvSpPr>
          <p:cNvPr id="100070" name="TextBox 5"/>
          <p:cNvSpPr/>
          <p:nvPr/>
        </p:nvSpPr>
        <p:spPr>
          <a:xfrm xmlns:a="http://schemas.openxmlformats.org/drawingml/2006/main">
            <a:off x="576000" y="1836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目标 / 前置条件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常见错误与三级提示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安全规则 / 来源链接</a:t>
            </a:r>
          </a:p>
        </p:txBody>
      </p:sp>
      <p:sp>
        <p:nvSpPr>
          <p:cNvPr id="100071" name="TextBox 6"/>
          <p:cNvSpPr/>
          <p:nvPr/>
        </p:nvSpPr>
        <p:spPr>
          <a:xfrm xmlns:a="http://schemas.openxmlformats.org/drawingml/2006/main">
            <a:off x="3960000" y="1944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500" b="1">
                <a:solidFill>
                  <a:srgbClr val="FFFFFF"/>
                </a:solidFill>
                <a:latin typeface="Microsoft YaHei"/>
                <a:ea typeface="Microsoft YaHei"/>
              </a:rPr>
              <a:t>+</a:t>
            </a:r>
          </a:p>
        </p:txBody>
      </p:sp>
      <p:sp>
        <p:nvSpPr>
          <p:cNvPr id="100072" name="TextBox 7"/>
          <p:cNvSpPr/>
          <p:nvPr/>
        </p:nvSpPr>
        <p:spPr>
          <a:xfrm xmlns:a="http://schemas.openxmlformats.org/drawingml/2006/main">
            <a:off x="4752000" y="1224000"/>
            <a:ext cx="32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7EA6D8"/>
                </a:solidFill>
                <a:latin typeface="Microsoft YaHei"/>
                <a:ea typeface="Microsoft YaHei"/>
              </a:rPr>
              <a:t>运行时上下文</a:t>
            </a:r>
          </a:p>
        </p:txBody>
      </p:sp>
      <p:sp>
        <p:nvSpPr>
          <p:cNvPr id="100073" name="TextBox 8"/>
          <p:cNvSpPr/>
          <p:nvPr/>
        </p:nvSpPr>
        <p:spPr>
          <a:xfrm xmlns:a="http://schemas.openxmlformats.org/drawingml/2006/main">
            <a:off x="4752000" y="1836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moduleId / sceneId / stepIndex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训练模式 / 尝试次数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耗时 / 最近事件</a:t>
            </a:r>
          </a:p>
        </p:txBody>
      </p:sp>
      <p:sp>
        <p:nvSpPr>
          <p:cNvPr id="100074" name="TextBox 9"/>
          <p:cNvSpPr/>
          <p:nvPr/>
        </p:nvSpPr>
        <p:spPr>
          <a:xfrm xmlns:a="http://schemas.openxmlformats.org/drawingml/2006/main">
            <a:off x="8172000" y="1944000"/>
            <a:ext cx="432000" cy="43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500" b="1">
                <a:solidFill>
                  <a:srgbClr val="FFFFFF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00075" name="TextBox 10"/>
          <p:cNvSpPr/>
          <p:nvPr/>
        </p:nvSpPr>
        <p:spPr>
          <a:xfrm xmlns:a="http://schemas.openxmlformats.org/drawingml/2006/main">
            <a:off x="8856000" y="1224000"/>
            <a:ext cx="259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7EA6D8"/>
                </a:solidFill>
                <a:latin typeface="Microsoft YaHei"/>
                <a:ea typeface="Microsoft YaHei"/>
              </a:rPr>
              <a:t>结构化回答</a:t>
            </a:r>
          </a:p>
        </p:txBody>
      </p:sp>
      <p:sp>
        <p:nvSpPr>
          <p:cNvPr id="100076" name="TextBox 11"/>
          <p:cNvSpPr/>
          <p:nvPr/>
        </p:nvSpPr>
        <p:spPr>
          <a:xfrm xmlns:a="http://schemas.openxmlformats.org/drawingml/2006/main">
            <a:off x="8856000" y="1836000"/>
            <a:ext cx="2592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回答内容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sourceRefs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confidence / safetyLevel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uiActions</a:t>
            </a:r>
          </a:p>
        </p:txBody>
      </p:sp>
      <p:sp>
        <p:nvSpPr>
          <p:cNvPr id="100077" name="TextBox 12"/>
          <p:cNvSpPr/>
          <p:nvPr/>
        </p:nvSpPr>
        <p:spPr>
          <a:xfrm xmlns:a="http://schemas.openxmlformats.org/drawingml/2006/main">
            <a:off x="1944000" y="4428000"/>
            <a:ext cx="8172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E7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检索不到依据时：明确说明并回退预置提示。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 name="两种模式：陪练与考核分开"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/>
      <p:sp>
        <p:nvSpPr>
          <p:cNvPr id="100078" name="TextBox 1"/>
          <p:cNvSpPr/>
          <p:nvPr/>
        </p:nvSpPr>
        <p:spPr>
          <a:xfrm xmlns:a="http://schemas.openxmlformats.org/drawingml/2006/main">
            <a:off x="486000" y="234000"/>
            <a:ext cx="882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两种模式：陪练与考核分开</a:t>
            </a:r>
          </a:p>
        </p:txBody>
      </p:sp>
      <p:sp>
        <p:nvSpPr>
          <p:cNvPr id="100079" name="TextBox 2"/>
          <p:cNvSpPr/>
          <p:nvPr/>
        </p:nvSpPr>
        <p:spPr>
          <a:xfrm xmlns:a="http://schemas.openxmlformats.org/drawingml/2006/main">
            <a:off x="9792000" y="295200"/>
            <a:ext cx="18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100" b="0">
                <a:solidFill>
                  <a:srgbClr val="7EA6D8"/>
                </a:solidFill>
                <a:latin typeface="Microsoft YaHei"/>
                <a:ea typeface="Microsoft YaHei"/>
              </a:rPr>
              <a:t>08  /  BPF AI助教 Agent</a:t>
            </a:r>
          </a:p>
        </p:txBody>
      </p:sp>
      <p:sp>
        <p:nvSpPr>
          <p:cNvPr id="100080" name="TextBox 3"/>
          <p:cNvSpPr/>
          <p:nvPr/>
        </p:nvSpPr>
        <p:spPr>
          <a:xfrm xmlns:a="http://schemas.openxmlformats.org/drawingml/2006/main">
            <a:off x="486000" y="810000"/>
            <a:ext cx="11214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C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81" name="TextBox 4"/>
          <p:cNvSpPr/>
          <p:nvPr/>
        </p:nvSpPr>
        <p:spPr>
          <a:xfrm xmlns:a="http://schemas.openxmlformats.org/drawingml/2006/main">
            <a:off x="720000" y="1296000"/>
            <a:ext cx="4968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TRAINING｜训练模式</a:t>
            </a:r>
          </a:p>
        </p:txBody>
      </p:sp>
      <p:sp>
        <p:nvSpPr>
          <p:cNvPr id="100082" name="TextBox 5"/>
          <p:cNvSpPr/>
          <p:nvPr/>
        </p:nvSpPr>
        <p:spPr>
          <a:xfrm xmlns:a="http://schemas.openxmlformats.org/drawingml/2006/main">
            <a:off x="720000" y="1980000"/>
            <a:ext cx="4968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可请求一级 / 二级 / 三级提示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可解释错误原因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允许反复练习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AI 目标：帮助掌握</a:t>
            </a:r>
          </a:p>
        </p:txBody>
      </p:sp>
      <p:sp>
        <p:nvSpPr>
          <p:cNvPr id="100083" name="TextBox 6"/>
          <p:cNvSpPr/>
          <p:nvPr/>
        </p:nvSpPr>
        <p:spPr>
          <a:xfrm xmlns:a="http://schemas.openxmlformats.org/drawingml/2006/main">
            <a:off x="6408000" y="1296000"/>
            <a:ext cx="4968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6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ASSESSMENT｜考核模式</a:t>
            </a:r>
          </a:p>
        </p:txBody>
      </p:sp>
      <p:sp>
        <p:nvSpPr>
          <p:cNvPr id="100084" name="TextBox 7"/>
          <p:cNvSpPr/>
          <p:nvPr/>
        </p:nvSpPr>
        <p:spPr>
          <a:xfrm xmlns:a="http://schemas.openxmlformats.org/drawingml/2006/main">
            <a:off x="6408000" y="1980000"/>
            <a:ext cx="4968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C2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保留安全提醒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有限引导，不直接揭示答案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评分与通过由 TexCore 给出</a:t>
            </a:r>
          </a:p>
          <a:p xmlns:a="http://schemas.openxmlformats.org/drawingml/2006/main">
            <a:pPr algn="l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AI 目标：保持公平</a:t>
            </a:r>
          </a:p>
        </p:txBody>
      </p:sp>
      <p:sp>
        <p:nvSpPr>
          <p:cNvPr id="100085" name="TextBox 8"/>
          <p:cNvSpPr/>
          <p:nvPr/>
        </p:nvSpPr>
        <p:spPr>
          <a:xfrm xmlns:a="http://schemas.openxmlformats.org/drawingml/2006/main">
            <a:off x="1296000" y="4680000"/>
            <a:ext cx="9648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E7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同一 Agent，不同权限策略；模式切换由业务侧传入，不由模型自行决定。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 name="M02 试点：服务器系统安装"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/>
      <p:sp>
        <p:nvSpPr>
          <p:cNvPr id="100086" name="TextBox 1"/>
          <p:cNvSpPr/>
          <p:nvPr/>
        </p:nvSpPr>
        <p:spPr>
          <a:xfrm xmlns:a="http://schemas.openxmlformats.org/drawingml/2006/main">
            <a:off x="486000" y="234000"/>
            <a:ext cx="882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M02 试点：服务器系统安装</a:t>
            </a:r>
          </a:p>
        </p:txBody>
      </p:sp>
      <p:sp>
        <p:nvSpPr>
          <p:cNvPr id="100087" name="TextBox 2"/>
          <p:cNvSpPr/>
          <p:nvPr/>
        </p:nvSpPr>
        <p:spPr>
          <a:xfrm xmlns:a="http://schemas.openxmlformats.org/drawingml/2006/main">
            <a:off x="9792000" y="295200"/>
            <a:ext cx="18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100" b="0">
                <a:solidFill>
                  <a:srgbClr val="7EA6D8"/>
                </a:solidFill>
                <a:latin typeface="Microsoft YaHei"/>
                <a:ea typeface="Microsoft YaHei"/>
              </a:rPr>
              <a:t>09  /  BPF AI助教 Agent</a:t>
            </a:r>
          </a:p>
        </p:txBody>
      </p:sp>
      <p:sp>
        <p:nvSpPr>
          <p:cNvPr id="100088" name="TextBox 3"/>
          <p:cNvSpPr/>
          <p:nvPr/>
        </p:nvSpPr>
        <p:spPr>
          <a:xfrm xmlns:a="http://schemas.openxmlformats.org/drawingml/2006/main">
            <a:off x="486000" y="810000"/>
            <a:ext cx="11214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C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89" name="TextBox 4"/>
          <p:cNvSpPr/>
          <p:nvPr/>
        </p:nvSpPr>
        <p:spPr>
          <a:xfrm xmlns:a="http://schemas.openxmlformats.org/drawingml/2006/main">
            <a:off x="540000" y="1512000"/>
            <a:ext cx="216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 进入模块</a:t>
            </a:r>
          </a:p>
        </p:txBody>
      </p:sp>
      <p:sp>
        <p:nvSpPr>
          <p:cNvPr id="100090" name="TextBox 5"/>
          <p:cNvSpPr/>
          <p:nvPr/>
        </p:nvSpPr>
        <p:spPr>
          <a:xfrm xmlns:a="http://schemas.openxmlformats.org/drawingml/2006/main">
            <a:off x="540000" y="2088000"/>
            <a:ext cx="2160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0">
                <a:solidFill>
                  <a:srgbClr val="FFFFFF"/>
                </a:solidFill>
                <a:latin typeface="Microsoft YaHei"/>
                <a:ea typeface="Microsoft YaHei"/>
              </a:rPr>
              <a:t>说明目标与安全事项</a:t>
            </a:r>
          </a:p>
        </p:txBody>
      </p:sp>
      <p:sp>
        <p:nvSpPr>
          <p:cNvPr id="100091" name="TextBox 6"/>
          <p:cNvSpPr/>
          <p:nvPr/>
        </p:nvSpPr>
        <p:spPr>
          <a:xfrm xmlns:a="http://schemas.openxmlformats.org/drawingml/2006/main">
            <a:off x="2916000" y="1512000"/>
            <a:ext cx="216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 执行安装</a:t>
            </a:r>
          </a:p>
        </p:txBody>
      </p:sp>
      <p:sp>
        <p:nvSpPr>
          <p:cNvPr id="100092" name="TextBox 7"/>
          <p:cNvSpPr/>
          <p:nvPr/>
        </p:nvSpPr>
        <p:spPr>
          <a:xfrm xmlns:a="http://schemas.openxmlformats.org/drawingml/2006/main">
            <a:off x="2916000" y="2088000"/>
            <a:ext cx="2160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0">
                <a:solidFill>
                  <a:srgbClr val="FFFFFF"/>
                </a:solidFill>
                <a:latin typeface="Microsoft YaHei"/>
                <a:ea typeface="Microsoft YaHei"/>
              </a:rPr>
              <a:t>TexCore 控制步骤与门禁</a:t>
            </a:r>
          </a:p>
        </p:txBody>
      </p:sp>
      <p:sp>
        <p:nvSpPr>
          <p:cNvPr id="100093" name="TextBox 8"/>
          <p:cNvSpPr/>
          <p:nvPr/>
        </p:nvSpPr>
        <p:spPr>
          <a:xfrm xmlns:a="http://schemas.openxmlformats.org/drawingml/2006/main">
            <a:off x="5292000" y="1512000"/>
            <a:ext cx="216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 配置与验证</a:t>
            </a:r>
          </a:p>
        </p:txBody>
      </p:sp>
      <p:sp>
        <p:nvSpPr>
          <p:cNvPr id="100094" name="TextBox 9"/>
          <p:cNvSpPr/>
          <p:nvPr/>
        </p:nvSpPr>
        <p:spPr>
          <a:xfrm xmlns:a="http://schemas.openxmlformats.org/drawingml/2006/main">
            <a:off x="5292000" y="2088000"/>
            <a:ext cx="2160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0">
                <a:solidFill>
                  <a:srgbClr val="FFFFFF"/>
                </a:solidFill>
                <a:latin typeface="Microsoft YaHei"/>
                <a:ea typeface="Microsoft YaHei"/>
              </a:rPr>
              <a:t>失败记录 + 分级提示</a:t>
            </a:r>
          </a:p>
        </p:txBody>
      </p:sp>
      <p:sp>
        <p:nvSpPr>
          <p:cNvPr id="100095" name="TextBox 10"/>
          <p:cNvSpPr/>
          <p:nvPr/>
        </p:nvSpPr>
        <p:spPr>
          <a:xfrm xmlns:a="http://schemas.openxmlformats.org/drawingml/2006/main">
            <a:off x="7668000" y="1512000"/>
            <a:ext cx="216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04 完成复盘</a:t>
            </a:r>
          </a:p>
        </p:txBody>
      </p:sp>
      <p:sp>
        <p:nvSpPr>
          <p:cNvPr id="100096" name="TextBox 11"/>
          <p:cNvSpPr/>
          <p:nvPr/>
        </p:nvSpPr>
        <p:spPr>
          <a:xfrm xmlns:a="http://schemas.openxmlformats.org/drawingml/2006/main">
            <a:off x="7668000" y="2088000"/>
            <a:ext cx="2160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0">
                <a:solidFill>
                  <a:srgbClr val="FFFFFF"/>
                </a:solidFill>
                <a:latin typeface="Microsoft YaHei"/>
                <a:ea typeface="Microsoft YaHei"/>
              </a:rPr>
              <a:t>三条建议 + 下一练习</a:t>
            </a:r>
          </a:p>
        </p:txBody>
      </p:sp>
      <p:sp>
        <p:nvSpPr>
          <p:cNvPr id="100097" name="TextBox 12"/>
          <p:cNvSpPr/>
          <p:nvPr/>
        </p:nvSpPr>
        <p:spPr>
          <a:xfrm xmlns:a="http://schemas.openxmlformats.org/drawingml/2006/main">
            <a:off x="1152000" y="3672000"/>
            <a:ext cx="9936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E7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Microsoft YaHei"/>
                <a:ea typeface="Microsoft YaHei"/>
              </a:rPr>
              <a:t>记录事件：StepActivated · AttemptFailed · HintRequested · StepCompleted · ModuleCompleted</a:t>
            </a:r>
          </a:p>
        </p:txBody>
      </p:sp>
      <p:sp>
        <p:nvSpPr>
          <p:cNvPr id="100098" name="TextBox 13"/>
          <p:cNvSpPr/>
          <p:nvPr/>
        </p:nvSpPr>
        <p:spPr>
          <a:xfrm xmlns:a="http://schemas.openxmlformats.org/drawingml/2006/main">
            <a:off x="2160000" y="4716000"/>
            <a:ext cx="799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 b="0">
                <a:solidFill>
                  <a:srgbClr val="B7D7FF"/>
                </a:solidFill>
                <a:latin typeface="Microsoft YaHei"/>
                <a:ea typeface="Microsoft YaHei"/>
              </a:rPr>
              <a:t>先验证“减少重复错误”，再增加视觉评价。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 name="MVP：五项能力，四周闭环"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/>
      <p:sp>
        <p:nvSpPr>
          <p:cNvPr id="100099" name="TextBox 1"/>
          <p:cNvSpPr/>
          <p:nvPr/>
        </p:nvSpPr>
        <p:spPr>
          <a:xfrm xmlns:a="http://schemas.openxmlformats.org/drawingml/2006/main">
            <a:off x="486000" y="234000"/>
            <a:ext cx="882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MVP：五项能力，四周闭环</a:t>
            </a:r>
          </a:p>
        </p:txBody>
      </p:sp>
      <p:sp>
        <p:nvSpPr>
          <p:cNvPr id="100100" name="TextBox 2"/>
          <p:cNvSpPr/>
          <p:nvPr/>
        </p:nvSpPr>
        <p:spPr>
          <a:xfrm xmlns:a="http://schemas.openxmlformats.org/drawingml/2006/main">
            <a:off x="9792000" y="295200"/>
            <a:ext cx="18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100" b="0">
                <a:solidFill>
                  <a:srgbClr val="7EA6D8"/>
                </a:solidFill>
                <a:latin typeface="Microsoft YaHei"/>
                <a:ea typeface="Microsoft YaHei"/>
              </a:rPr>
              <a:t>10  /  BPF AI助教 Agent</a:t>
            </a:r>
          </a:p>
        </p:txBody>
      </p:sp>
      <p:sp>
        <p:nvSpPr>
          <p:cNvPr id="100101" name="TextBox 3"/>
          <p:cNvSpPr/>
          <p:nvPr/>
        </p:nvSpPr>
        <p:spPr>
          <a:xfrm xmlns:a="http://schemas.openxmlformats.org/drawingml/2006/main">
            <a:off x="486000" y="810000"/>
            <a:ext cx="11214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C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102" name="TextBox 4"/>
          <p:cNvSpPr/>
          <p:nvPr/>
        </p:nvSpPr>
        <p:spPr>
          <a:xfrm xmlns:a="http://schemas.openxmlformats.org/drawingml/2006/main">
            <a:off x="576000" y="1476000"/>
            <a:ext cx="1440000" cy="3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103" name="TextBox 5"/>
          <p:cNvSpPr/>
          <p:nvPr/>
        </p:nvSpPr>
        <p:spPr>
          <a:xfrm xmlns:a="http://schemas.openxmlformats.org/drawingml/2006/main">
            <a:off x="576000" y="1998000"/>
            <a:ext cx="144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步骤知识助手</a:t>
            </a:r>
          </a:p>
        </p:txBody>
      </p:sp>
      <p:sp>
        <p:nvSpPr>
          <p:cNvPr id="100104" name="TextBox 6"/>
          <p:cNvSpPr/>
          <p:nvPr/>
        </p:nvSpPr>
        <p:spPr>
          <a:xfrm xmlns:a="http://schemas.openxmlformats.org/drawingml/2006/main">
            <a:off x="2880000" y="1476000"/>
            <a:ext cx="1440000" cy="3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0105" name="TextBox 7"/>
          <p:cNvSpPr/>
          <p:nvPr/>
        </p:nvSpPr>
        <p:spPr>
          <a:xfrm xmlns:a="http://schemas.openxmlformats.org/drawingml/2006/main">
            <a:off x="2880000" y="1998000"/>
            <a:ext cx="144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三级提示</a:t>
            </a:r>
          </a:p>
        </p:txBody>
      </p:sp>
      <p:sp>
        <p:nvSpPr>
          <p:cNvPr id="100106" name="TextBox 8"/>
          <p:cNvSpPr/>
          <p:nvPr/>
        </p:nvSpPr>
        <p:spPr>
          <a:xfrm xmlns:a="http://schemas.openxmlformats.org/drawingml/2006/main">
            <a:off x="5184000" y="1476000"/>
            <a:ext cx="1440000" cy="3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0107" name="TextBox 9"/>
          <p:cNvSpPr/>
          <p:nvPr/>
        </p:nvSpPr>
        <p:spPr>
          <a:xfrm xmlns:a="http://schemas.openxmlformats.org/drawingml/2006/main">
            <a:off x="5184000" y="1998000"/>
            <a:ext cx="144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训练事件记录</a:t>
            </a:r>
          </a:p>
        </p:txBody>
      </p:sp>
      <p:sp>
        <p:nvSpPr>
          <p:cNvPr id="100108" name="TextBox 10"/>
          <p:cNvSpPr/>
          <p:nvPr/>
        </p:nvSpPr>
        <p:spPr>
          <a:xfrm xmlns:a="http://schemas.openxmlformats.org/drawingml/2006/main">
            <a:off x="7488000" y="1476000"/>
            <a:ext cx="1440000" cy="3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00109" name="TextBox 11"/>
          <p:cNvSpPr/>
          <p:nvPr/>
        </p:nvSpPr>
        <p:spPr>
          <a:xfrm xmlns:a="http://schemas.openxmlformats.org/drawingml/2006/main">
            <a:off x="7488000" y="1998000"/>
            <a:ext cx="144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三条复盘建议</a:t>
            </a:r>
          </a:p>
        </p:txBody>
      </p:sp>
      <p:sp>
        <p:nvSpPr>
          <p:cNvPr id="100110" name="TextBox 12"/>
          <p:cNvSpPr/>
          <p:nvPr/>
        </p:nvSpPr>
        <p:spPr>
          <a:xfrm xmlns:a="http://schemas.openxmlformats.org/drawingml/2006/main">
            <a:off x="9792000" y="1476000"/>
            <a:ext cx="1440000" cy="3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00111" name="TextBox 13"/>
          <p:cNvSpPr/>
          <p:nvPr/>
        </p:nvSpPr>
        <p:spPr>
          <a:xfrm xmlns:a="http://schemas.openxmlformats.org/drawingml/2006/main">
            <a:off x="9792000" y="1998000"/>
            <a:ext cx="144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离线提示回退</a:t>
            </a:r>
          </a:p>
        </p:txBody>
      </p:sp>
      <p:sp>
        <p:nvSpPr>
          <p:cNvPr id="100112" name="TextBox 14"/>
          <p:cNvSpPr/>
          <p:nvPr/>
        </p:nvSpPr>
        <p:spPr>
          <a:xfrm xmlns:a="http://schemas.openxmlformats.org/drawingml/2006/main">
            <a:off x="1080000" y="3312000"/>
            <a:ext cx="2304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第 1 周</a:t>
            </a:r>
          </a:p>
          <a:p xmlns:a="http://schemas.openxmlformats.org/drawingml/2006/main">
            <a:pPr algn="ctr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知识卡 + JSON 契约</a:t>
            </a:r>
          </a:p>
        </p:txBody>
      </p:sp>
      <p:sp>
        <p:nvSpPr>
          <p:cNvPr id="100113" name="TextBox 15"/>
          <p:cNvSpPr/>
          <p:nvPr/>
        </p:nvSpPr>
        <p:spPr>
          <a:xfrm xmlns:a="http://schemas.openxmlformats.org/drawingml/2006/main">
            <a:off x="3636000" y="3312000"/>
            <a:ext cx="2304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第 2 周</a:t>
            </a:r>
          </a:p>
          <a:p xmlns:a="http://schemas.openxmlformats.org/drawingml/2006/main">
            <a:pPr algn="ctr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Unity 面板 + 事件</a:t>
            </a:r>
          </a:p>
        </p:txBody>
      </p:sp>
      <p:sp>
        <p:nvSpPr>
          <p:cNvPr id="100114" name="TextBox 16"/>
          <p:cNvSpPr/>
          <p:nvPr/>
        </p:nvSpPr>
        <p:spPr>
          <a:xfrm xmlns:a="http://schemas.openxmlformats.org/drawingml/2006/main">
            <a:off x="6192000" y="3312000"/>
            <a:ext cx="2304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第 3 周</a:t>
            </a:r>
          </a:p>
          <a:p xmlns:a="http://schemas.openxmlformats.org/drawingml/2006/main">
            <a:pPr algn="ctr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在线网关 + 检索</a:t>
            </a:r>
          </a:p>
        </p:txBody>
      </p:sp>
      <p:sp>
        <p:nvSpPr>
          <p:cNvPr id="100115" name="TextBox 17"/>
          <p:cNvSpPr/>
          <p:nvPr/>
        </p:nvSpPr>
        <p:spPr>
          <a:xfrm xmlns:a="http://schemas.openxmlformats.org/drawingml/2006/main">
            <a:off x="8748000" y="3312000"/>
            <a:ext cx="2304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第 4 周</a:t>
            </a:r>
          </a:p>
          <a:p xmlns:a="http://schemas.openxmlformats.org/drawingml/2006/main">
            <a:pPr algn="ctr"/>
            <a:r>
              <a:rPr lang="en-US" sz="2000" b="0">
                <a:solidFill>
                  <a:srgbClr val="FFFFFF"/>
                </a:solidFill>
                <a:latin typeface="Microsoft YaHei"/>
                <a:ea typeface="Microsoft YaHei"/>
              </a:rPr>
              <a:t>5–10 人试点</a:t>
            </a:r>
          </a:p>
        </p:txBody>
      </p:sp>
      <p:sp>
        <p:nvSpPr>
          <p:cNvPr id="100116" name="TextBox 18"/>
          <p:cNvSpPr/>
          <p:nvPr/>
        </p:nvSpPr>
        <p:spPr>
          <a:xfrm xmlns:a="http://schemas.openxmlformats.org/drawingml/2006/main">
            <a:off x="1080000" y="4824000"/>
            <a:ext cx="9936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6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暂不做：视觉识别、虚拟人、自动判分、开放互联网搜索、教师大屏。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 name="验收：先证明学习效果，再扩大范围"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/>
      <p:sp>
        <p:nvSpPr>
          <p:cNvPr id="100117" name="TextBox 1"/>
          <p:cNvSpPr/>
          <p:nvPr/>
        </p:nvSpPr>
        <p:spPr>
          <a:xfrm xmlns:a="http://schemas.openxmlformats.org/drawingml/2006/main">
            <a:off x="486000" y="234000"/>
            <a:ext cx="882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验收：先证明学习效果，再扩大范围</a:t>
            </a:r>
          </a:p>
        </p:txBody>
      </p:sp>
      <p:sp>
        <p:nvSpPr>
          <p:cNvPr id="100118" name="TextBox 2"/>
          <p:cNvSpPr/>
          <p:nvPr/>
        </p:nvSpPr>
        <p:spPr>
          <a:xfrm xmlns:a="http://schemas.openxmlformats.org/drawingml/2006/main">
            <a:off x="9792000" y="295200"/>
            <a:ext cx="18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100" b="0">
                <a:solidFill>
                  <a:srgbClr val="7EA6D8"/>
                </a:solidFill>
                <a:latin typeface="Microsoft YaHei"/>
                <a:ea typeface="Microsoft YaHei"/>
              </a:rPr>
              <a:t>11  /  BPF AI助教 Agent</a:t>
            </a:r>
          </a:p>
        </p:txBody>
      </p:sp>
      <p:sp>
        <p:nvSpPr>
          <p:cNvPr id="100119" name="TextBox 3"/>
          <p:cNvSpPr/>
          <p:nvPr/>
        </p:nvSpPr>
        <p:spPr>
          <a:xfrm xmlns:a="http://schemas.openxmlformats.org/drawingml/2006/main">
            <a:off x="486000" y="810000"/>
            <a:ext cx="11214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C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120" name="TextBox 4"/>
          <p:cNvSpPr/>
          <p:nvPr/>
        </p:nvSpPr>
        <p:spPr>
          <a:xfrm xmlns:a="http://schemas.openxmlformats.org/drawingml/2006/main">
            <a:off x="576000" y="1296000"/>
            <a:ext cx="226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7EA6D8"/>
                </a:solidFill>
                <a:latin typeface="Microsoft YaHei"/>
                <a:ea typeface="Microsoft YaHei"/>
              </a:rPr>
              <a:t>可靠性</a:t>
            </a:r>
          </a:p>
        </p:txBody>
      </p:sp>
      <p:sp>
        <p:nvSpPr>
          <p:cNvPr id="100121" name="TextBox 5"/>
          <p:cNvSpPr/>
          <p:nvPr/>
        </p:nvSpPr>
        <p:spPr>
          <a:xfrm xmlns:a="http://schemas.openxmlformats.org/drawingml/2006/main">
            <a:off x="576000" y="1728000"/>
            <a:ext cx="22680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100" b="0">
                <a:solidFill>
                  <a:srgbClr val="FFFFFF"/>
                </a:solidFill>
                <a:latin typeface="Microsoft YaHei"/>
                <a:ea typeface="Microsoft YaHei"/>
              </a:rPr>
              <a:t>100% 识别当前步骤</a:t>
            </a:r>
          </a:p>
          <a:p xmlns:a="http://schemas.openxmlformats.org/drawingml/2006/main">
            <a:pPr algn="l"/>
            <a:r>
              <a:rPr lang="en-US" sz="2100" b="0">
                <a:solidFill>
                  <a:srgbClr val="FFFFFF"/>
                </a:solidFill>
                <a:latin typeface="Microsoft YaHei"/>
                <a:ea typeface="Microsoft YaHei"/>
              </a:rPr>
              <a:t>1000 次交互不改业务状态</a:t>
            </a:r>
          </a:p>
        </p:txBody>
      </p:sp>
      <p:sp>
        <p:nvSpPr>
          <p:cNvPr id="100122" name="TextBox 6"/>
          <p:cNvSpPr/>
          <p:nvPr/>
        </p:nvSpPr>
        <p:spPr>
          <a:xfrm xmlns:a="http://schemas.openxmlformats.org/drawingml/2006/main">
            <a:off x="3168000" y="1296000"/>
            <a:ext cx="226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7EA6D8"/>
                </a:solidFill>
                <a:latin typeface="Microsoft YaHei"/>
                <a:ea typeface="Microsoft YaHei"/>
              </a:rPr>
              <a:t>体验</a:t>
            </a:r>
          </a:p>
        </p:txBody>
      </p:sp>
      <p:sp>
        <p:nvSpPr>
          <p:cNvPr id="100123" name="TextBox 7"/>
          <p:cNvSpPr/>
          <p:nvPr/>
        </p:nvSpPr>
        <p:spPr>
          <a:xfrm xmlns:a="http://schemas.openxmlformats.org/drawingml/2006/main">
            <a:off x="3168000" y="1728000"/>
            <a:ext cx="22680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100" b="0">
                <a:solidFill>
                  <a:srgbClr val="FFFFFF"/>
                </a:solidFill>
                <a:latin typeface="Microsoft YaHei"/>
                <a:ea typeface="Microsoft YaHei"/>
              </a:rPr>
              <a:t>离线响应 &lt; 300ms</a:t>
            </a:r>
          </a:p>
          <a:p xmlns:a="http://schemas.openxmlformats.org/drawingml/2006/main">
            <a:pPr algn="l"/>
            <a:r>
              <a:rPr lang="en-US" sz="2100" b="0">
                <a:solidFill>
                  <a:srgbClr val="FFFFFF"/>
                </a:solidFill>
                <a:latin typeface="Microsoft YaHei"/>
                <a:ea typeface="Microsoft YaHei"/>
              </a:rPr>
              <a:t>在线 P95 &lt; 4s</a:t>
            </a:r>
          </a:p>
        </p:txBody>
      </p:sp>
      <p:sp>
        <p:nvSpPr>
          <p:cNvPr id="100124" name="TextBox 8"/>
          <p:cNvSpPr/>
          <p:nvPr/>
        </p:nvSpPr>
        <p:spPr>
          <a:xfrm xmlns:a="http://schemas.openxmlformats.org/drawingml/2006/main">
            <a:off x="5760000" y="1296000"/>
            <a:ext cx="226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7EA6D8"/>
                </a:solidFill>
                <a:latin typeface="Microsoft YaHei"/>
                <a:ea typeface="Microsoft YaHei"/>
              </a:rPr>
              <a:t>知识质量</a:t>
            </a:r>
          </a:p>
        </p:txBody>
      </p:sp>
      <p:sp>
        <p:nvSpPr>
          <p:cNvPr id="100125" name="TextBox 9"/>
          <p:cNvSpPr/>
          <p:nvPr/>
        </p:nvSpPr>
        <p:spPr>
          <a:xfrm xmlns:a="http://schemas.openxmlformats.org/drawingml/2006/main">
            <a:off x="5760000" y="1728000"/>
            <a:ext cx="22680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100" b="0">
                <a:solidFill>
                  <a:srgbClr val="FFFFFF"/>
                </a:solidFill>
                <a:latin typeface="Microsoft YaHei"/>
                <a:ea typeface="Microsoft YaHei"/>
              </a:rPr>
              <a:t>来源覆盖率 ≥ 95%</a:t>
            </a:r>
          </a:p>
          <a:p xmlns:a="http://schemas.openxmlformats.org/drawingml/2006/main">
            <a:pPr algn="l"/>
            <a:r>
              <a:rPr lang="en-US" sz="2100" b="0">
                <a:solidFill>
                  <a:srgbClr val="FFFFFF"/>
                </a:solidFill>
                <a:latin typeface="Microsoft YaHei"/>
                <a:ea typeface="Microsoft YaHei"/>
              </a:rPr>
              <a:t>安全回答可追溯</a:t>
            </a:r>
          </a:p>
        </p:txBody>
      </p:sp>
      <p:sp>
        <p:nvSpPr>
          <p:cNvPr id="100126" name="TextBox 10"/>
          <p:cNvSpPr/>
          <p:nvPr/>
        </p:nvSpPr>
        <p:spPr>
          <a:xfrm xmlns:a="http://schemas.openxmlformats.org/drawingml/2006/main">
            <a:off x="8352000" y="1296000"/>
            <a:ext cx="226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7EA6D8"/>
                </a:solidFill>
                <a:latin typeface="Microsoft YaHei"/>
                <a:ea typeface="Microsoft YaHei"/>
              </a:rPr>
              <a:t>学习效果</a:t>
            </a:r>
          </a:p>
        </p:txBody>
      </p:sp>
      <p:sp>
        <p:nvSpPr>
          <p:cNvPr id="100127" name="TextBox 11"/>
          <p:cNvSpPr/>
          <p:nvPr/>
        </p:nvSpPr>
        <p:spPr>
          <a:xfrm xmlns:a="http://schemas.openxmlformats.org/drawingml/2006/main">
            <a:off x="8352000" y="1728000"/>
            <a:ext cx="22680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100" b="0">
                <a:solidFill>
                  <a:srgbClr val="FFFFFF"/>
                </a:solidFill>
                <a:latin typeface="Microsoft YaHei"/>
                <a:ea typeface="Microsoft YaHei"/>
              </a:rPr>
              <a:t>事件完整率 ≥ 99%</a:t>
            </a:r>
          </a:p>
          <a:p xmlns:a="http://schemas.openxmlformats.org/drawingml/2006/main">
            <a:pPr algn="l"/>
            <a:r>
              <a:rPr lang="en-US" sz="2100" b="0">
                <a:solidFill>
                  <a:srgbClr val="FFFFFF"/>
                </a:solidFill>
                <a:latin typeface="Microsoft YaHei"/>
                <a:ea typeface="Microsoft YaHei"/>
              </a:rPr>
              <a:t>错误复发率下降</a:t>
            </a:r>
          </a:p>
        </p:txBody>
      </p:sp>
      <p:sp>
        <p:nvSpPr>
          <p:cNvPr id="100128" name="TextBox 12"/>
          <p:cNvSpPr/>
          <p:nvPr/>
        </p:nvSpPr>
        <p:spPr>
          <a:xfrm xmlns:a="http://schemas.openxmlformats.org/drawingml/2006/main">
            <a:off x="1548000" y="4248000"/>
            <a:ext cx="9108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E7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300" b="1">
                <a:solidFill>
                  <a:srgbClr val="FFFFFF"/>
                </a:solidFill>
                <a:latin typeface="Microsoft YaHei"/>
                <a:ea typeface="Microsoft YaHei"/>
              </a:rPr>
              <a:t>M02 通过 → M05 划线贴码 → 机器人 / 货架入场</a:t>
            </a:r>
          </a:p>
        </p:txBody>
      </p:sp>
      <p:sp>
        <p:nvSpPr>
          <p:cNvPr id="100129" name="TextBox 13"/>
          <p:cNvSpPr/>
          <p:nvPr/>
        </p:nvSpPr>
        <p:spPr>
          <a:xfrm xmlns:a="http://schemas.openxmlformats.org/drawingml/2006/main">
            <a:off x="2196000" y="5112000"/>
            <a:ext cx="784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B7D7FF"/>
                </a:solidFill>
                <a:latin typeface="Microsoft YaHei"/>
                <a:ea typeface="Microsoft YaHei"/>
              </a:rPr>
              <a:t>路线：规则提示 → 视觉评价 → 教师端分析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 name="今天要做的决定"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/>
      <p:sp>
        <p:nvSpPr>
          <p:cNvPr id="100130" name="TextBox 1"/>
          <p:cNvSpPr/>
          <p:nvPr/>
        </p:nvSpPr>
        <p:spPr>
          <a:xfrm xmlns:a="http://schemas.openxmlformats.org/drawingml/2006/main">
            <a:off x="486000" y="234000"/>
            <a:ext cx="882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今天要做的决定</a:t>
            </a:r>
          </a:p>
        </p:txBody>
      </p:sp>
      <p:sp>
        <p:nvSpPr>
          <p:cNvPr id="100131" name="TextBox 2"/>
          <p:cNvSpPr/>
          <p:nvPr/>
        </p:nvSpPr>
        <p:spPr>
          <a:xfrm xmlns:a="http://schemas.openxmlformats.org/drawingml/2006/main">
            <a:off x="9792000" y="295200"/>
            <a:ext cx="18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100" b="0">
                <a:solidFill>
                  <a:srgbClr val="7EA6D8"/>
                </a:solidFill>
                <a:latin typeface="Microsoft YaHei"/>
                <a:ea typeface="Microsoft YaHei"/>
              </a:rPr>
              <a:t>12  /  BPF AI助教 Agent</a:t>
            </a:r>
          </a:p>
        </p:txBody>
      </p:sp>
      <p:sp>
        <p:nvSpPr>
          <p:cNvPr id="100132" name="TextBox 3"/>
          <p:cNvSpPr/>
          <p:nvPr/>
        </p:nvSpPr>
        <p:spPr>
          <a:xfrm xmlns:a="http://schemas.openxmlformats.org/drawingml/2006/main">
            <a:off x="486000" y="810000"/>
            <a:ext cx="11214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C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endParaRPr lang="en-US" sz="10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133" name="TextBox 4"/>
          <p:cNvSpPr/>
          <p:nvPr/>
        </p:nvSpPr>
        <p:spPr>
          <a:xfrm xmlns:a="http://schemas.openxmlformats.org/drawingml/2006/main">
            <a:off x="648000" y="1476000"/>
            <a:ext cx="3096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300" b="1">
                <a:solidFill>
                  <a:srgbClr val="FFFFFF"/>
                </a:solidFill>
                <a:latin typeface="Microsoft YaHei"/>
                <a:ea typeface="Microsoft YaHei"/>
              </a:rPr>
              <a:t>01 选定首个试点</a:t>
            </a:r>
          </a:p>
        </p:txBody>
      </p:sp>
      <p:sp>
        <p:nvSpPr>
          <p:cNvPr id="100134" name="TextBox 5"/>
          <p:cNvSpPr/>
          <p:nvPr/>
        </p:nvSpPr>
        <p:spPr>
          <a:xfrm xmlns:a="http://schemas.openxmlformats.org/drawingml/2006/main">
            <a:off x="648000" y="2052000"/>
            <a:ext cx="3096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M02 服务器系统安装</a:t>
            </a:r>
          </a:p>
        </p:txBody>
      </p:sp>
      <p:sp>
        <p:nvSpPr>
          <p:cNvPr id="100135" name="TextBox 6"/>
          <p:cNvSpPr/>
          <p:nvPr/>
        </p:nvSpPr>
        <p:spPr>
          <a:xfrm xmlns:a="http://schemas.openxmlformats.org/drawingml/2006/main">
            <a:off x="4536000" y="1476000"/>
            <a:ext cx="3096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300" b="1">
                <a:solidFill>
                  <a:srgbClr val="FFFFFF"/>
                </a:solidFill>
                <a:latin typeface="Microsoft YaHei"/>
                <a:ea typeface="Microsoft YaHei"/>
              </a:rPr>
              <a:t>02 确定部署边界</a:t>
            </a:r>
          </a:p>
        </p:txBody>
      </p:sp>
      <p:sp>
        <p:nvSpPr>
          <p:cNvPr id="100136" name="TextBox 7"/>
          <p:cNvSpPr/>
          <p:nvPr/>
        </p:nvSpPr>
        <p:spPr>
          <a:xfrm xmlns:a="http://schemas.openxmlformats.org/drawingml/2006/main">
            <a:off x="4536000" y="2052000"/>
            <a:ext cx="3096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AI 网关在服务端</a:t>
            </a:r>
          </a:p>
          <a:p xmlns:a="http://schemas.openxmlformats.org/drawingml/2006/main">
            <a:pPr algn="ctr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设备端不放 API Key</a:t>
            </a:r>
          </a:p>
        </p:txBody>
      </p:sp>
      <p:sp>
        <p:nvSpPr>
          <p:cNvPr id="100137" name="TextBox 8"/>
          <p:cNvSpPr/>
          <p:nvPr/>
        </p:nvSpPr>
        <p:spPr>
          <a:xfrm xmlns:a="http://schemas.openxmlformats.org/drawingml/2006/main">
            <a:off x="8424000" y="1476000"/>
            <a:ext cx="3096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7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300" b="1">
                <a:solidFill>
                  <a:srgbClr val="FFFFFF"/>
                </a:solidFill>
                <a:latin typeface="Microsoft YaHei"/>
                <a:ea typeface="Microsoft YaHei"/>
              </a:rPr>
              <a:t>03 确定交互优先级</a:t>
            </a:r>
          </a:p>
        </p:txBody>
      </p:sp>
      <p:sp>
        <p:nvSpPr>
          <p:cNvPr id="100138" name="TextBox 9"/>
          <p:cNvSpPr/>
          <p:nvPr/>
        </p:nvSpPr>
        <p:spPr>
          <a:xfrm xmlns:a="http://schemas.openxmlformats.org/drawingml/2006/main">
            <a:off x="8424000" y="2052000"/>
            <a:ext cx="3096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5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200" b="0">
                <a:solidFill>
                  <a:srgbClr val="FFFFFF"/>
                </a:solidFill>
                <a:latin typeface="Microsoft YaHei"/>
                <a:ea typeface="Microsoft YaHei"/>
              </a:rPr>
              <a:t>先文字，后评估语音</a:t>
            </a:r>
          </a:p>
        </p:txBody>
      </p:sp>
      <p:sp>
        <p:nvSpPr>
          <p:cNvPr id="100139" name="TextBox 10"/>
          <p:cNvSpPr/>
          <p:nvPr/>
        </p:nvSpPr>
        <p:spPr>
          <a:xfrm xmlns:a="http://schemas.openxmlformats.org/drawingml/2006/main">
            <a:off x="1152000" y="3888000"/>
            <a:ext cx="9936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E7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建议：先用 M02 验证“少犯错、会复盘”，再扩展视觉评价。</a:t>
            </a:r>
          </a:p>
        </p:txBody>
      </p:sp>
      <p:sp>
        <p:nvSpPr>
          <p:cNvPr id="100140" name="TextBox 11"/>
          <p:cNvSpPr/>
          <p:nvPr/>
        </p:nvSpPr>
        <p:spPr>
          <a:xfrm xmlns:a="http://schemas.openxmlformats.org/drawingml/2006/main">
            <a:off x="1152000" y="4860000"/>
            <a:ext cx="993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9728" tIns="109728" rIns="109728" bIns="109728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900" b="0">
                <a:solidFill>
                  <a:srgbClr val="B7D7FF"/>
                </a:solidFill>
                <a:latin typeface="Microsoft YaHei"/>
                <a:ea typeface="Microsoft YaHei"/>
              </a:rPr>
              <a:t>下一步：确认 M02 步骤知识卡、网关部署位置、第一版语音范围。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2026-09-02T07:28:15Z</dcterms:created>
  <cp:lastModifiedBy>OfficeCLI</cp:lastModifiedBy>
  <dcterms:modified xsi:type="dcterms:W3CDTF">2026-09-02T07:28:15Z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1.0.146</vt:lpwstr>
  </op:property>
  <op:property fmtid="{D5CDD505-2E9C-101B-9397-08002B2CF9AE}" pid="3" name="OfficeCLI.LastModified">
    <vt:lpwstr xmlns:vt="http://schemas.openxmlformats.org/officeDocument/2006/docPropsVTypes">2026-09-02T07:28:16Z</vt:lpwstr>
  </op:property>
</op:Properties>
</file>